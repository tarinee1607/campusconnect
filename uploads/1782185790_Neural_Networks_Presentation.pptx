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6" r:id="rId2"/>
    <p:sldId id="257" r:id="rId3"/>
    <p:sldId id="258" r:id="rId4"/>
    <p:sldId id="260" r:id="rId5"/>
    <p:sldId id="261" r:id="rId6"/>
    <p:sldId id="277" r:id="rId7"/>
    <p:sldId id="262" r:id="rId8"/>
    <p:sldId id="279" r:id="rId9"/>
    <p:sldId id="280" r:id="rId10"/>
    <p:sldId id="281" r:id="rId11"/>
    <p:sldId id="282" r:id="rId12"/>
    <p:sldId id="283" r:id="rId13"/>
    <p:sldId id="284" r:id="rId14"/>
    <p:sldId id="285" r:id="rId15"/>
    <p:sldId id="286" r:id="rId16"/>
    <p:sldId id="266" r:id="rId17"/>
    <p:sldId id="265" r:id="rId18"/>
    <p:sldId id="267" r:id="rId19"/>
    <p:sldId id="274" r:id="rId20"/>
    <p:sldId id="275" r:id="rId21"/>
    <p:sldId id="278"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snapToObjects="1">
      <p:cViewPr varScale="1">
        <p:scale>
          <a:sx n="78" d="100"/>
          <a:sy n="78" d="100"/>
        </p:scale>
        <p:origin x="155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12BABE-15DB-4A40-8771-9F304F4D802C}" type="doc">
      <dgm:prSet loTypeId="urn:microsoft.com/office/officeart/2005/8/layout/process3" loCatId="process" qsTypeId="urn:microsoft.com/office/officeart/2005/8/quickstyle/3d3" qsCatId="3D" csTypeId="urn:microsoft.com/office/officeart/2005/8/colors/accent1_2" csCatId="accent1" phldr="1"/>
      <dgm:spPr/>
      <dgm:t>
        <a:bodyPr/>
        <a:lstStyle/>
        <a:p>
          <a:endParaRPr lang="en-IN"/>
        </a:p>
      </dgm:t>
    </dgm:pt>
    <dgm:pt modelId="{754F3010-603E-48FF-8DD7-86BAC4EAC43B}">
      <dgm:prSet phldrT="[Text]" custT="1"/>
      <dgm:spPr/>
      <dgm:t>
        <a:bodyPr/>
        <a:lstStyle/>
        <a:p>
          <a:r>
            <a:rPr lang="en-US" sz="1600" dirty="0"/>
            <a:t>1943:First </a:t>
          </a:r>
          <a:r>
            <a:rPr lang="en-US" sz="1600" dirty="0" err="1"/>
            <a:t>Airtificial</a:t>
          </a:r>
          <a:r>
            <a:rPr lang="en-US" sz="1600" dirty="0"/>
            <a:t> Neuron Model by </a:t>
          </a:r>
          <a:r>
            <a:rPr lang="en-US" sz="1600" dirty="0" err="1"/>
            <a:t>MCCulloch</a:t>
          </a:r>
          <a:r>
            <a:rPr lang="en-US" sz="1600" dirty="0"/>
            <a:t> and Pitts</a:t>
          </a:r>
          <a:endParaRPr lang="en-IN" sz="1600" dirty="0"/>
        </a:p>
      </dgm:t>
    </dgm:pt>
    <dgm:pt modelId="{20121D50-90F8-4C68-80B0-5D968042B3CE}" type="parTrans" cxnId="{CB0B98B4-7D22-475B-B0A5-7B5A064DCFA7}">
      <dgm:prSet/>
      <dgm:spPr/>
      <dgm:t>
        <a:bodyPr/>
        <a:lstStyle/>
        <a:p>
          <a:endParaRPr lang="en-IN"/>
        </a:p>
      </dgm:t>
    </dgm:pt>
    <dgm:pt modelId="{0A9277E3-C385-4104-BEC9-D74DFD3231FB}" type="sibTrans" cxnId="{CB0B98B4-7D22-475B-B0A5-7B5A064DCFA7}">
      <dgm:prSet/>
      <dgm:spPr/>
      <dgm:t>
        <a:bodyPr/>
        <a:lstStyle/>
        <a:p>
          <a:endParaRPr lang="en-IN"/>
        </a:p>
      </dgm:t>
    </dgm:pt>
    <dgm:pt modelId="{FCE65D3B-CA26-42B6-8299-63286A8F2860}">
      <dgm:prSet phldrT="[Text]" custT="1"/>
      <dgm:spPr/>
      <dgm:t>
        <a:bodyPr/>
        <a:lstStyle/>
        <a:p>
          <a:r>
            <a:rPr lang="en-US" sz="1400" b="1" dirty="0"/>
            <a:t>2010s- Present</a:t>
          </a:r>
          <a:r>
            <a:rPr lang="en-US" sz="1400" dirty="0"/>
            <a:t>: Advancement in AI and Deep learning.</a:t>
          </a:r>
          <a:endParaRPr lang="en-IN" sz="1400" dirty="0"/>
        </a:p>
      </dgm:t>
    </dgm:pt>
    <dgm:pt modelId="{FA6A2970-8C52-4331-B77B-F98CA9D82F91}" type="parTrans" cxnId="{2F6A55D1-6AA1-4272-93FE-E698F9892391}">
      <dgm:prSet/>
      <dgm:spPr/>
      <dgm:t>
        <a:bodyPr/>
        <a:lstStyle/>
        <a:p>
          <a:endParaRPr lang="en-IN"/>
        </a:p>
      </dgm:t>
    </dgm:pt>
    <dgm:pt modelId="{B107B832-5F75-4EE8-B391-2A74945009E3}" type="sibTrans" cxnId="{2F6A55D1-6AA1-4272-93FE-E698F9892391}">
      <dgm:prSet/>
      <dgm:spPr/>
      <dgm:t>
        <a:bodyPr/>
        <a:lstStyle/>
        <a:p>
          <a:endParaRPr lang="en-IN"/>
        </a:p>
      </dgm:t>
    </dgm:pt>
    <dgm:pt modelId="{4C8831DF-5A94-4751-A827-1B6941E3011C}">
      <dgm:prSet phldrT="[Text]" custT="1"/>
      <dgm:spPr/>
      <dgm:t>
        <a:bodyPr/>
        <a:lstStyle/>
        <a:p>
          <a:r>
            <a:rPr lang="en-US" sz="1600" dirty="0"/>
            <a:t>1958: Frank Rosenblatt develops the Perceptron.</a:t>
          </a:r>
          <a:r>
            <a:rPr lang="en-US" sz="1000" dirty="0"/>
            <a:t> </a:t>
          </a:r>
          <a:endParaRPr lang="en-IN" sz="1000" dirty="0"/>
        </a:p>
      </dgm:t>
    </dgm:pt>
    <dgm:pt modelId="{62C73AE4-3D95-4D3F-AF28-D07C68A142C8}" type="parTrans" cxnId="{46FDF1C2-A619-4F00-9085-DE2F9119C7A3}">
      <dgm:prSet/>
      <dgm:spPr/>
      <dgm:t>
        <a:bodyPr/>
        <a:lstStyle/>
        <a:p>
          <a:endParaRPr lang="en-IN"/>
        </a:p>
      </dgm:t>
    </dgm:pt>
    <dgm:pt modelId="{45238C87-1866-4566-9403-FD450F3A88C1}" type="sibTrans" cxnId="{46FDF1C2-A619-4F00-9085-DE2F9119C7A3}">
      <dgm:prSet/>
      <dgm:spPr/>
      <dgm:t>
        <a:bodyPr/>
        <a:lstStyle/>
        <a:p>
          <a:endParaRPr lang="en-IN"/>
        </a:p>
      </dgm:t>
    </dgm:pt>
    <dgm:pt modelId="{708BCA48-F4FE-4545-B105-3226BBAA5753}">
      <dgm:prSet phldrT="[Text]" custT="1"/>
      <dgm:spPr/>
      <dgm:t>
        <a:bodyPr/>
        <a:lstStyle/>
        <a:p>
          <a:r>
            <a:rPr lang="en-US" sz="1400" b="1" dirty="0"/>
            <a:t>2012: </a:t>
          </a:r>
          <a:r>
            <a:rPr lang="en-US" sz="1400" b="1" dirty="0" err="1"/>
            <a:t>AlexNet</a:t>
          </a:r>
          <a:r>
            <a:rPr lang="en-US" sz="1400" dirty="0"/>
            <a:t> revolutionizes </a:t>
          </a:r>
          <a:r>
            <a:rPr lang="en-US" sz="1400" b="1" dirty="0"/>
            <a:t>image classification</a:t>
          </a:r>
          <a:r>
            <a:rPr lang="en-US" sz="1400" dirty="0"/>
            <a:t> with deep learning.</a:t>
          </a:r>
          <a:endParaRPr lang="en-IN" sz="1400" dirty="0"/>
        </a:p>
      </dgm:t>
    </dgm:pt>
    <dgm:pt modelId="{0C64681E-3AD3-4F47-97A6-3438A39795C5}" type="parTrans" cxnId="{67CCC7E3-E21E-490F-A4BF-5476C3DA21D2}">
      <dgm:prSet/>
      <dgm:spPr/>
      <dgm:t>
        <a:bodyPr/>
        <a:lstStyle/>
        <a:p>
          <a:endParaRPr lang="en-IN"/>
        </a:p>
      </dgm:t>
    </dgm:pt>
    <dgm:pt modelId="{4B3C056C-3EE6-42E9-AB22-007B229DEFAA}" type="sibTrans" cxnId="{67CCC7E3-E21E-490F-A4BF-5476C3DA21D2}">
      <dgm:prSet/>
      <dgm:spPr/>
      <dgm:t>
        <a:bodyPr/>
        <a:lstStyle/>
        <a:p>
          <a:endParaRPr lang="en-IN"/>
        </a:p>
      </dgm:t>
    </dgm:pt>
    <dgm:pt modelId="{7D643D00-BBF6-4068-93C8-1D5195535BC2}">
      <dgm:prSet phldrT="[Text]" custT="1"/>
      <dgm:spPr/>
      <dgm:t>
        <a:bodyPr/>
        <a:lstStyle/>
        <a:p>
          <a:r>
            <a:rPr lang="en-US" sz="1600" dirty="0"/>
            <a:t>1960s-70: AI Winter due to the limitation of early models.</a:t>
          </a:r>
          <a:endParaRPr lang="en-IN" sz="1600" dirty="0"/>
        </a:p>
      </dgm:t>
    </dgm:pt>
    <dgm:pt modelId="{B79C1782-CA01-42E4-B3DB-81C9CB85D7F9}" type="parTrans" cxnId="{7192F7EA-0C7F-421B-8E26-BA54367C2DC8}">
      <dgm:prSet/>
      <dgm:spPr/>
      <dgm:t>
        <a:bodyPr/>
        <a:lstStyle/>
        <a:p>
          <a:endParaRPr lang="en-IN"/>
        </a:p>
      </dgm:t>
    </dgm:pt>
    <dgm:pt modelId="{0A1ED9F2-5562-486C-A9E3-F275DF3D062F}" type="sibTrans" cxnId="{7192F7EA-0C7F-421B-8E26-BA54367C2DC8}">
      <dgm:prSet/>
      <dgm:spPr/>
      <dgm:t>
        <a:bodyPr/>
        <a:lstStyle/>
        <a:p>
          <a:endParaRPr lang="en-IN"/>
        </a:p>
      </dgm:t>
    </dgm:pt>
    <dgm:pt modelId="{0DC2AA07-5F82-41E5-91E9-CCBCD4F397A3}">
      <dgm:prSet phldrT="[Text]" custT="1"/>
      <dgm:spPr/>
      <dgm:t>
        <a:bodyPr/>
        <a:lstStyle/>
        <a:p>
          <a:r>
            <a:rPr lang="en-US" sz="1600" b="1" dirty="0"/>
            <a:t>1986: </a:t>
          </a:r>
          <a:r>
            <a:rPr lang="en-US" sz="1600" dirty="0" err="1"/>
            <a:t>Inroduction</a:t>
          </a:r>
          <a:r>
            <a:rPr lang="en-US" sz="1600" dirty="0"/>
            <a:t> to </a:t>
          </a:r>
          <a:r>
            <a:rPr lang="en-US" sz="1600" b="1" dirty="0" err="1"/>
            <a:t>Backproagation</a:t>
          </a:r>
          <a:r>
            <a:rPr lang="en-US" sz="1600" dirty="0"/>
            <a:t> by </a:t>
          </a:r>
          <a:r>
            <a:rPr lang="en-US" sz="1600" dirty="0" err="1"/>
            <a:t>Rumelhalt</a:t>
          </a:r>
          <a:r>
            <a:rPr lang="en-US" sz="1600" dirty="0"/>
            <a:t>, Hinton, and Williams.</a:t>
          </a:r>
          <a:endParaRPr lang="en-IN" sz="1600" dirty="0"/>
        </a:p>
      </dgm:t>
    </dgm:pt>
    <dgm:pt modelId="{3728E7C0-FAC7-400D-A26B-764D8A1000BD}" type="parTrans" cxnId="{72BB200C-D64B-4F71-B85D-B67F8CC203E5}">
      <dgm:prSet/>
      <dgm:spPr/>
      <dgm:t>
        <a:bodyPr/>
        <a:lstStyle/>
        <a:p>
          <a:endParaRPr lang="en-IN"/>
        </a:p>
      </dgm:t>
    </dgm:pt>
    <dgm:pt modelId="{D1BB23A7-FF08-4361-BE98-A3C7FEB00382}" type="sibTrans" cxnId="{72BB200C-D64B-4F71-B85D-B67F8CC203E5}">
      <dgm:prSet/>
      <dgm:spPr/>
      <dgm:t>
        <a:bodyPr/>
        <a:lstStyle/>
        <a:p>
          <a:endParaRPr lang="en-IN"/>
        </a:p>
      </dgm:t>
    </dgm:pt>
    <dgm:pt modelId="{115F07A2-69F0-4FF9-B213-D41EC168289C}" type="pres">
      <dgm:prSet presAssocID="{0712BABE-15DB-4A40-8771-9F304F4D802C}" presName="linearFlow" presStyleCnt="0">
        <dgm:presLayoutVars>
          <dgm:dir/>
          <dgm:animLvl val="lvl"/>
          <dgm:resizeHandles val="exact"/>
        </dgm:presLayoutVars>
      </dgm:prSet>
      <dgm:spPr/>
    </dgm:pt>
    <dgm:pt modelId="{45E79AC3-CC30-45AF-8F0E-6B0B43D18C92}" type="pres">
      <dgm:prSet presAssocID="{754F3010-603E-48FF-8DD7-86BAC4EAC43B}" presName="composite" presStyleCnt="0"/>
      <dgm:spPr/>
    </dgm:pt>
    <dgm:pt modelId="{F1CA0738-4918-4080-9596-0056D2D292B0}" type="pres">
      <dgm:prSet presAssocID="{754F3010-603E-48FF-8DD7-86BAC4EAC43B}" presName="parTx" presStyleLbl="node1" presStyleIdx="0" presStyleCnt="3">
        <dgm:presLayoutVars>
          <dgm:chMax val="0"/>
          <dgm:chPref val="0"/>
          <dgm:bulletEnabled val="1"/>
        </dgm:presLayoutVars>
      </dgm:prSet>
      <dgm:spPr/>
    </dgm:pt>
    <dgm:pt modelId="{EB4B3263-82D7-40CB-9C91-8973879D3E42}" type="pres">
      <dgm:prSet presAssocID="{754F3010-603E-48FF-8DD7-86BAC4EAC43B}" presName="parSh" presStyleLbl="node1" presStyleIdx="0" presStyleCnt="3" custScaleX="133665" custScaleY="242646" custLinFactY="-100000" custLinFactNeighborX="10044" custLinFactNeighborY="-184441"/>
      <dgm:spPr/>
    </dgm:pt>
    <dgm:pt modelId="{10293129-A40B-4975-AA3D-12171B355BCD}" type="pres">
      <dgm:prSet presAssocID="{754F3010-603E-48FF-8DD7-86BAC4EAC43B}" presName="desTx" presStyleLbl="fgAcc1" presStyleIdx="0" presStyleCnt="3" custScaleX="131635" custLinFactNeighborX="-1426" custLinFactNeighborY="38019">
        <dgm:presLayoutVars>
          <dgm:bulletEnabled val="1"/>
        </dgm:presLayoutVars>
      </dgm:prSet>
      <dgm:spPr/>
    </dgm:pt>
    <dgm:pt modelId="{FF1AED57-FEE2-4AA5-8A44-B3289FDE87F4}" type="pres">
      <dgm:prSet presAssocID="{0A9277E3-C385-4104-BEC9-D74DFD3231FB}" presName="sibTrans" presStyleLbl="sibTrans2D1" presStyleIdx="0" presStyleCnt="2" custLinFactNeighborY="35431"/>
      <dgm:spPr/>
    </dgm:pt>
    <dgm:pt modelId="{349F46B1-7A73-436F-89DC-604BE393E410}" type="pres">
      <dgm:prSet presAssocID="{0A9277E3-C385-4104-BEC9-D74DFD3231FB}" presName="connTx" presStyleLbl="sibTrans2D1" presStyleIdx="0" presStyleCnt="2"/>
      <dgm:spPr/>
    </dgm:pt>
    <dgm:pt modelId="{708E28E7-E8CA-4A49-8289-7DD69E8AA827}" type="pres">
      <dgm:prSet presAssocID="{4C8831DF-5A94-4751-A827-1B6941E3011C}" presName="composite" presStyleCnt="0"/>
      <dgm:spPr/>
    </dgm:pt>
    <dgm:pt modelId="{817D49E0-1A11-404A-AA41-D268BD227E4C}" type="pres">
      <dgm:prSet presAssocID="{4C8831DF-5A94-4751-A827-1B6941E3011C}" presName="parTx" presStyleLbl="node1" presStyleIdx="0" presStyleCnt="3">
        <dgm:presLayoutVars>
          <dgm:chMax val="0"/>
          <dgm:chPref val="0"/>
          <dgm:bulletEnabled val="1"/>
        </dgm:presLayoutVars>
      </dgm:prSet>
      <dgm:spPr/>
    </dgm:pt>
    <dgm:pt modelId="{A391AC8E-0169-48A2-B753-D9E364772FFC}" type="pres">
      <dgm:prSet presAssocID="{4C8831DF-5A94-4751-A827-1B6941E3011C}" presName="parSh" presStyleLbl="node1" presStyleIdx="1" presStyleCnt="3" custScaleX="133534" custScaleY="146857" custLinFactNeighborX="-2348" custLinFactNeighborY="-86462"/>
      <dgm:spPr/>
    </dgm:pt>
    <dgm:pt modelId="{6C84A4E3-8325-49AB-A265-5DC1D207E586}" type="pres">
      <dgm:prSet presAssocID="{4C8831DF-5A94-4751-A827-1B6941E3011C}" presName="desTx" presStyleLbl="fgAcc1" presStyleIdx="1" presStyleCnt="3" custScaleX="154913" custScaleY="130255" custLinFactNeighborX="-20257" custLinFactNeighborY="59553">
        <dgm:presLayoutVars>
          <dgm:bulletEnabled val="1"/>
        </dgm:presLayoutVars>
      </dgm:prSet>
      <dgm:spPr/>
    </dgm:pt>
    <dgm:pt modelId="{1320F092-E648-4184-8571-1ED5BD7BE96A}" type="pres">
      <dgm:prSet presAssocID="{45238C87-1866-4566-9403-FD450F3A88C1}" presName="sibTrans" presStyleLbl="sibTrans2D1" presStyleIdx="1" presStyleCnt="2" custLinFactNeighborX="0" custLinFactNeighborY="51783"/>
      <dgm:spPr/>
    </dgm:pt>
    <dgm:pt modelId="{19A4A6FC-58EB-4FFB-B301-DFB8D2B018A2}" type="pres">
      <dgm:prSet presAssocID="{45238C87-1866-4566-9403-FD450F3A88C1}" presName="connTx" presStyleLbl="sibTrans2D1" presStyleIdx="1" presStyleCnt="2"/>
      <dgm:spPr/>
    </dgm:pt>
    <dgm:pt modelId="{6B8FA955-5C4E-4737-B4A0-2BA097E18B3A}" type="pres">
      <dgm:prSet presAssocID="{7D643D00-BBF6-4068-93C8-1D5195535BC2}" presName="composite" presStyleCnt="0"/>
      <dgm:spPr/>
    </dgm:pt>
    <dgm:pt modelId="{948D8D29-B416-44A0-8F7C-9E4F3EA38FB0}" type="pres">
      <dgm:prSet presAssocID="{7D643D00-BBF6-4068-93C8-1D5195535BC2}" presName="parTx" presStyleLbl="node1" presStyleIdx="1" presStyleCnt="3">
        <dgm:presLayoutVars>
          <dgm:chMax val="0"/>
          <dgm:chPref val="0"/>
          <dgm:bulletEnabled val="1"/>
        </dgm:presLayoutVars>
      </dgm:prSet>
      <dgm:spPr/>
    </dgm:pt>
    <dgm:pt modelId="{EB994806-C373-4DFA-BFA1-868B371CED9D}" type="pres">
      <dgm:prSet presAssocID="{7D643D00-BBF6-4068-93C8-1D5195535BC2}" presName="parSh" presStyleLbl="node1" presStyleIdx="2" presStyleCnt="3" custScaleX="131619" custScaleY="235767" custLinFactNeighborX="-10950" custLinFactNeighborY="-93676"/>
      <dgm:spPr/>
    </dgm:pt>
    <dgm:pt modelId="{D0CF1CCE-F52C-43B3-88E4-3E607140BB61}" type="pres">
      <dgm:prSet presAssocID="{7D643D00-BBF6-4068-93C8-1D5195535BC2}" presName="desTx" presStyleLbl="fgAcc1" presStyleIdx="2" presStyleCnt="3" custScaleX="187354" custLinFactNeighborX="-30080" custLinFactNeighborY="35227">
        <dgm:presLayoutVars>
          <dgm:bulletEnabled val="1"/>
        </dgm:presLayoutVars>
      </dgm:prSet>
      <dgm:spPr/>
    </dgm:pt>
  </dgm:ptLst>
  <dgm:cxnLst>
    <dgm:cxn modelId="{EC046A05-117F-41FE-92BA-01443C206FB5}" type="presOf" srcId="{4C8831DF-5A94-4751-A827-1B6941E3011C}" destId="{A391AC8E-0169-48A2-B753-D9E364772FFC}" srcOrd="1" destOrd="0" presId="urn:microsoft.com/office/officeart/2005/8/layout/process3"/>
    <dgm:cxn modelId="{4DC4270B-003A-4EF8-A4E7-A5DC303ECB7B}" type="presOf" srcId="{708BCA48-F4FE-4545-B105-3226BBAA5753}" destId="{6C84A4E3-8325-49AB-A265-5DC1D207E586}" srcOrd="0" destOrd="0" presId="urn:microsoft.com/office/officeart/2005/8/layout/process3"/>
    <dgm:cxn modelId="{72BB200C-D64B-4F71-B85D-B67F8CC203E5}" srcId="{7D643D00-BBF6-4068-93C8-1D5195535BC2}" destId="{0DC2AA07-5F82-41E5-91E9-CCBCD4F397A3}" srcOrd="0" destOrd="0" parTransId="{3728E7C0-FAC7-400D-A26B-764D8A1000BD}" sibTransId="{D1BB23A7-FF08-4361-BE98-A3C7FEB00382}"/>
    <dgm:cxn modelId="{CC62ED15-55AE-42CE-85F4-2DD8276D23C9}" type="presOf" srcId="{7D643D00-BBF6-4068-93C8-1D5195535BC2}" destId="{EB994806-C373-4DFA-BFA1-868B371CED9D}" srcOrd="1" destOrd="0" presId="urn:microsoft.com/office/officeart/2005/8/layout/process3"/>
    <dgm:cxn modelId="{25AFD223-3868-47BE-A411-9FE57C41DDEC}" type="presOf" srcId="{0DC2AA07-5F82-41E5-91E9-CCBCD4F397A3}" destId="{D0CF1CCE-F52C-43B3-88E4-3E607140BB61}" srcOrd="0" destOrd="0" presId="urn:microsoft.com/office/officeart/2005/8/layout/process3"/>
    <dgm:cxn modelId="{3B73855F-8168-4447-B916-979A4690E03A}" type="presOf" srcId="{754F3010-603E-48FF-8DD7-86BAC4EAC43B}" destId="{EB4B3263-82D7-40CB-9C91-8973879D3E42}" srcOrd="1" destOrd="0" presId="urn:microsoft.com/office/officeart/2005/8/layout/process3"/>
    <dgm:cxn modelId="{1D619767-4E96-48EE-BB17-EE91A1FEB932}" type="presOf" srcId="{0A9277E3-C385-4104-BEC9-D74DFD3231FB}" destId="{FF1AED57-FEE2-4AA5-8A44-B3289FDE87F4}" srcOrd="0" destOrd="0" presId="urn:microsoft.com/office/officeart/2005/8/layout/process3"/>
    <dgm:cxn modelId="{30F4C573-34D7-41A7-94F8-55D157CA68E6}" type="presOf" srcId="{754F3010-603E-48FF-8DD7-86BAC4EAC43B}" destId="{F1CA0738-4918-4080-9596-0056D2D292B0}" srcOrd="0" destOrd="0" presId="urn:microsoft.com/office/officeart/2005/8/layout/process3"/>
    <dgm:cxn modelId="{429FD28A-DD92-4809-B19D-A055D53DB419}" type="presOf" srcId="{0A9277E3-C385-4104-BEC9-D74DFD3231FB}" destId="{349F46B1-7A73-436F-89DC-604BE393E410}" srcOrd="1" destOrd="0" presId="urn:microsoft.com/office/officeart/2005/8/layout/process3"/>
    <dgm:cxn modelId="{9DC95D8C-B79E-4DEE-9FCF-61DB68C113AD}" type="presOf" srcId="{FCE65D3B-CA26-42B6-8299-63286A8F2860}" destId="{10293129-A40B-4975-AA3D-12171B355BCD}" srcOrd="0" destOrd="0" presId="urn:microsoft.com/office/officeart/2005/8/layout/process3"/>
    <dgm:cxn modelId="{B45A348F-175D-445F-BF7B-F9AAC8FA5382}" type="presOf" srcId="{45238C87-1866-4566-9403-FD450F3A88C1}" destId="{19A4A6FC-58EB-4FFB-B301-DFB8D2B018A2}" srcOrd="1" destOrd="0" presId="urn:microsoft.com/office/officeart/2005/8/layout/process3"/>
    <dgm:cxn modelId="{940DFEB2-4339-4217-8516-2DC5F06832A2}" type="presOf" srcId="{7D643D00-BBF6-4068-93C8-1D5195535BC2}" destId="{948D8D29-B416-44A0-8F7C-9E4F3EA38FB0}" srcOrd="0" destOrd="0" presId="urn:microsoft.com/office/officeart/2005/8/layout/process3"/>
    <dgm:cxn modelId="{CB0B98B4-7D22-475B-B0A5-7B5A064DCFA7}" srcId="{0712BABE-15DB-4A40-8771-9F304F4D802C}" destId="{754F3010-603E-48FF-8DD7-86BAC4EAC43B}" srcOrd="0" destOrd="0" parTransId="{20121D50-90F8-4C68-80B0-5D968042B3CE}" sibTransId="{0A9277E3-C385-4104-BEC9-D74DFD3231FB}"/>
    <dgm:cxn modelId="{46FDF1C2-A619-4F00-9085-DE2F9119C7A3}" srcId="{0712BABE-15DB-4A40-8771-9F304F4D802C}" destId="{4C8831DF-5A94-4751-A827-1B6941E3011C}" srcOrd="1" destOrd="0" parTransId="{62C73AE4-3D95-4D3F-AF28-D07C68A142C8}" sibTransId="{45238C87-1866-4566-9403-FD450F3A88C1}"/>
    <dgm:cxn modelId="{B4D47ECA-C4BC-4434-81DE-17560B1513C2}" type="presOf" srcId="{4C8831DF-5A94-4751-A827-1B6941E3011C}" destId="{817D49E0-1A11-404A-AA41-D268BD227E4C}" srcOrd="0" destOrd="0" presId="urn:microsoft.com/office/officeart/2005/8/layout/process3"/>
    <dgm:cxn modelId="{7BA5F7CF-9732-4259-BDCD-148C4C4DDC86}" type="presOf" srcId="{45238C87-1866-4566-9403-FD450F3A88C1}" destId="{1320F092-E648-4184-8571-1ED5BD7BE96A}" srcOrd="0" destOrd="0" presId="urn:microsoft.com/office/officeart/2005/8/layout/process3"/>
    <dgm:cxn modelId="{2F6A55D1-6AA1-4272-93FE-E698F9892391}" srcId="{754F3010-603E-48FF-8DD7-86BAC4EAC43B}" destId="{FCE65D3B-CA26-42B6-8299-63286A8F2860}" srcOrd="0" destOrd="0" parTransId="{FA6A2970-8C52-4331-B77B-F98CA9D82F91}" sibTransId="{B107B832-5F75-4EE8-B391-2A74945009E3}"/>
    <dgm:cxn modelId="{67CCC7E3-E21E-490F-A4BF-5476C3DA21D2}" srcId="{4C8831DF-5A94-4751-A827-1B6941E3011C}" destId="{708BCA48-F4FE-4545-B105-3226BBAA5753}" srcOrd="0" destOrd="0" parTransId="{0C64681E-3AD3-4F47-97A6-3438A39795C5}" sibTransId="{4B3C056C-3EE6-42E9-AB22-007B229DEFAA}"/>
    <dgm:cxn modelId="{7192F7EA-0C7F-421B-8E26-BA54367C2DC8}" srcId="{0712BABE-15DB-4A40-8771-9F304F4D802C}" destId="{7D643D00-BBF6-4068-93C8-1D5195535BC2}" srcOrd="2" destOrd="0" parTransId="{B79C1782-CA01-42E4-B3DB-81C9CB85D7F9}" sibTransId="{0A1ED9F2-5562-486C-A9E3-F275DF3D062F}"/>
    <dgm:cxn modelId="{503DB1FB-5BC7-4B89-8421-CDEB6272D673}" type="presOf" srcId="{0712BABE-15DB-4A40-8771-9F304F4D802C}" destId="{115F07A2-69F0-4FF9-B213-D41EC168289C}" srcOrd="0" destOrd="0" presId="urn:microsoft.com/office/officeart/2005/8/layout/process3"/>
    <dgm:cxn modelId="{A1F65389-42B0-43CE-A1FB-9A3A29811EC9}" type="presParOf" srcId="{115F07A2-69F0-4FF9-B213-D41EC168289C}" destId="{45E79AC3-CC30-45AF-8F0E-6B0B43D18C92}" srcOrd="0" destOrd="0" presId="urn:microsoft.com/office/officeart/2005/8/layout/process3"/>
    <dgm:cxn modelId="{16F8A18A-9B99-447E-8E39-EAC1868851E4}" type="presParOf" srcId="{45E79AC3-CC30-45AF-8F0E-6B0B43D18C92}" destId="{F1CA0738-4918-4080-9596-0056D2D292B0}" srcOrd="0" destOrd="0" presId="urn:microsoft.com/office/officeart/2005/8/layout/process3"/>
    <dgm:cxn modelId="{436BD07E-93E1-4AC9-BF29-9F8AF7CEDF07}" type="presParOf" srcId="{45E79AC3-CC30-45AF-8F0E-6B0B43D18C92}" destId="{EB4B3263-82D7-40CB-9C91-8973879D3E42}" srcOrd="1" destOrd="0" presId="urn:microsoft.com/office/officeart/2005/8/layout/process3"/>
    <dgm:cxn modelId="{37E22AC9-2505-4821-8E7B-712FFA81493D}" type="presParOf" srcId="{45E79AC3-CC30-45AF-8F0E-6B0B43D18C92}" destId="{10293129-A40B-4975-AA3D-12171B355BCD}" srcOrd="2" destOrd="0" presId="urn:microsoft.com/office/officeart/2005/8/layout/process3"/>
    <dgm:cxn modelId="{6CF042C2-812C-4AB7-91F7-ADBF4272A52B}" type="presParOf" srcId="{115F07A2-69F0-4FF9-B213-D41EC168289C}" destId="{FF1AED57-FEE2-4AA5-8A44-B3289FDE87F4}" srcOrd="1" destOrd="0" presId="urn:microsoft.com/office/officeart/2005/8/layout/process3"/>
    <dgm:cxn modelId="{AEFBC7B5-A8E4-48A7-A68A-FEDA9B8FECC0}" type="presParOf" srcId="{FF1AED57-FEE2-4AA5-8A44-B3289FDE87F4}" destId="{349F46B1-7A73-436F-89DC-604BE393E410}" srcOrd="0" destOrd="0" presId="urn:microsoft.com/office/officeart/2005/8/layout/process3"/>
    <dgm:cxn modelId="{4AC6C9BC-610E-4069-B2E5-DBA31F272611}" type="presParOf" srcId="{115F07A2-69F0-4FF9-B213-D41EC168289C}" destId="{708E28E7-E8CA-4A49-8289-7DD69E8AA827}" srcOrd="2" destOrd="0" presId="urn:microsoft.com/office/officeart/2005/8/layout/process3"/>
    <dgm:cxn modelId="{CE07F2B4-C5E0-4DBD-83C8-4304DE04BCAF}" type="presParOf" srcId="{708E28E7-E8CA-4A49-8289-7DD69E8AA827}" destId="{817D49E0-1A11-404A-AA41-D268BD227E4C}" srcOrd="0" destOrd="0" presId="urn:microsoft.com/office/officeart/2005/8/layout/process3"/>
    <dgm:cxn modelId="{B671B50A-383C-4CF3-8DCA-32D0884EEAB0}" type="presParOf" srcId="{708E28E7-E8CA-4A49-8289-7DD69E8AA827}" destId="{A391AC8E-0169-48A2-B753-D9E364772FFC}" srcOrd="1" destOrd="0" presId="urn:microsoft.com/office/officeart/2005/8/layout/process3"/>
    <dgm:cxn modelId="{476460AE-C800-4FDA-99B3-14F183F75978}" type="presParOf" srcId="{708E28E7-E8CA-4A49-8289-7DD69E8AA827}" destId="{6C84A4E3-8325-49AB-A265-5DC1D207E586}" srcOrd="2" destOrd="0" presId="urn:microsoft.com/office/officeart/2005/8/layout/process3"/>
    <dgm:cxn modelId="{DC732436-7482-47F7-A3DA-7E4025F5792E}" type="presParOf" srcId="{115F07A2-69F0-4FF9-B213-D41EC168289C}" destId="{1320F092-E648-4184-8571-1ED5BD7BE96A}" srcOrd="3" destOrd="0" presId="urn:microsoft.com/office/officeart/2005/8/layout/process3"/>
    <dgm:cxn modelId="{EB4CD9AF-2EE8-405F-955A-0C0987D1099E}" type="presParOf" srcId="{1320F092-E648-4184-8571-1ED5BD7BE96A}" destId="{19A4A6FC-58EB-4FFB-B301-DFB8D2B018A2}" srcOrd="0" destOrd="0" presId="urn:microsoft.com/office/officeart/2005/8/layout/process3"/>
    <dgm:cxn modelId="{899340BB-BBB1-4857-A51F-E25C837C7EFF}" type="presParOf" srcId="{115F07A2-69F0-4FF9-B213-D41EC168289C}" destId="{6B8FA955-5C4E-4737-B4A0-2BA097E18B3A}" srcOrd="4" destOrd="0" presId="urn:microsoft.com/office/officeart/2005/8/layout/process3"/>
    <dgm:cxn modelId="{44FA2818-38FE-4BA4-B9C1-66F8FCBBC81B}" type="presParOf" srcId="{6B8FA955-5C4E-4737-B4A0-2BA097E18B3A}" destId="{948D8D29-B416-44A0-8F7C-9E4F3EA38FB0}" srcOrd="0" destOrd="0" presId="urn:microsoft.com/office/officeart/2005/8/layout/process3"/>
    <dgm:cxn modelId="{057DEF45-A894-41D6-A8E2-E305A0796298}" type="presParOf" srcId="{6B8FA955-5C4E-4737-B4A0-2BA097E18B3A}" destId="{EB994806-C373-4DFA-BFA1-868B371CED9D}" srcOrd="1" destOrd="0" presId="urn:microsoft.com/office/officeart/2005/8/layout/process3"/>
    <dgm:cxn modelId="{EE225DAF-D722-4FA8-B5B0-AD8A345D8491}" type="presParOf" srcId="{6B8FA955-5C4E-4737-B4A0-2BA097E18B3A}" destId="{D0CF1CCE-F52C-43B3-88E4-3E607140BB61}"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FF7D74-7A39-43AF-B40C-1D9EACA53038}" type="doc">
      <dgm:prSet loTypeId="urn:microsoft.com/office/officeart/2005/8/layout/hList6" loCatId="list" qsTypeId="urn:microsoft.com/office/officeart/2005/8/quickstyle/3d3" qsCatId="3D" csTypeId="urn:microsoft.com/office/officeart/2005/8/colors/accent1_3" csCatId="accent1" phldr="1"/>
      <dgm:spPr/>
      <dgm:t>
        <a:bodyPr/>
        <a:lstStyle/>
        <a:p>
          <a:endParaRPr lang="en-IN"/>
        </a:p>
      </dgm:t>
    </dgm:pt>
    <dgm:pt modelId="{E0C4CE26-9E52-4099-BD98-ABB113E15013}">
      <dgm:prSet phldrT="[Text]"/>
      <dgm:spPr/>
      <dgm:t>
        <a:bodyPr/>
        <a:lstStyle/>
        <a:p>
          <a:pPr>
            <a:buClrTx/>
            <a:buSzTx/>
            <a:buFontTx/>
            <a:buChar char="•"/>
          </a:pPr>
          <a:r>
            <a:rPr kumimoji="0" lang="en-US" altLang="en-US" b="1" i="0" u="none" strike="noStrike" cap="none" normalizeH="0" baseline="0" dirty="0">
              <a:ln/>
              <a:effectLst/>
              <a:latin typeface="Arial" panose="020B0604020202020204" pitchFamily="34" charset="0"/>
            </a:rPr>
            <a:t>Data Requirements:</a:t>
          </a:r>
          <a:r>
            <a:rPr kumimoji="0" lang="en-US" altLang="en-US" b="0" i="0" u="none" strike="noStrike" cap="none" normalizeH="0" baseline="0" dirty="0">
              <a:ln/>
              <a:effectLst/>
              <a:latin typeface="Arial" panose="020B0604020202020204" pitchFamily="34" charset="0"/>
            </a:rPr>
            <a:t> Neural networks require large amounts of labeled data to perform well, which can be hard to obtain in some fields.</a:t>
          </a:r>
          <a:endParaRPr lang="en-IN" dirty="0"/>
        </a:p>
      </dgm:t>
    </dgm:pt>
    <dgm:pt modelId="{C4CC2702-2AF5-474A-99DB-6A6E49878ACB}" type="parTrans" cxnId="{69FF6E6E-BC6A-45B0-9304-17497606A012}">
      <dgm:prSet/>
      <dgm:spPr/>
      <dgm:t>
        <a:bodyPr/>
        <a:lstStyle/>
        <a:p>
          <a:endParaRPr lang="en-IN"/>
        </a:p>
      </dgm:t>
    </dgm:pt>
    <dgm:pt modelId="{002D469C-ACDD-4D17-9D83-21EF6C402FFA}" type="sibTrans" cxnId="{69FF6E6E-BC6A-45B0-9304-17497606A012}">
      <dgm:prSet/>
      <dgm:spPr/>
      <dgm:t>
        <a:bodyPr/>
        <a:lstStyle/>
        <a:p>
          <a:endParaRPr lang="en-IN"/>
        </a:p>
      </dgm:t>
    </dgm:pt>
    <dgm:pt modelId="{72D7AF0F-8C8A-471F-8FBA-3F0821F06501}">
      <dgm:prSet phldrT="[Text]"/>
      <dgm:spPr/>
      <dgm:t>
        <a:bodyPr/>
        <a:lstStyle/>
        <a:p>
          <a:pPr>
            <a:buClrTx/>
            <a:buSzTx/>
            <a:buFontTx/>
            <a:buChar char="•"/>
          </a:pPr>
          <a:r>
            <a:rPr kumimoji="0" lang="en-US" altLang="en-US" b="1" i="0" u="none" strike="noStrike" cap="none" normalizeH="0" baseline="0" dirty="0">
              <a:ln/>
              <a:effectLst/>
              <a:latin typeface="Arial" panose="020B0604020202020204" pitchFamily="34" charset="0"/>
            </a:rPr>
            <a:t>Computational Power:</a:t>
          </a:r>
          <a:r>
            <a:rPr kumimoji="0" lang="en-US" altLang="en-US" b="0" i="0" u="none" strike="noStrike" cap="none" normalizeH="0" baseline="0" dirty="0">
              <a:ln/>
              <a:effectLst/>
              <a:latin typeface="Arial" panose="020B0604020202020204" pitchFamily="34" charset="0"/>
            </a:rPr>
            <a:t> Training deep neural networks demands significant computational resources, often requiring GPUs or specialized hardware.</a:t>
          </a:r>
          <a:endParaRPr lang="en-IN" dirty="0"/>
        </a:p>
      </dgm:t>
    </dgm:pt>
    <dgm:pt modelId="{CDE9A9C4-23C4-42AC-B42C-A3F12D2A33BA}" type="parTrans" cxnId="{2C524259-4C6E-489C-94D0-BC002DBB7290}">
      <dgm:prSet/>
      <dgm:spPr/>
      <dgm:t>
        <a:bodyPr/>
        <a:lstStyle/>
        <a:p>
          <a:endParaRPr lang="en-IN"/>
        </a:p>
      </dgm:t>
    </dgm:pt>
    <dgm:pt modelId="{1055EBFC-59FD-41B4-90AA-CE4A4825C128}" type="sibTrans" cxnId="{2C524259-4C6E-489C-94D0-BC002DBB7290}">
      <dgm:prSet/>
      <dgm:spPr/>
      <dgm:t>
        <a:bodyPr/>
        <a:lstStyle/>
        <a:p>
          <a:endParaRPr lang="en-IN"/>
        </a:p>
      </dgm:t>
    </dgm:pt>
    <dgm:pt modelId="{A708943B-67C3-4D22-AEAC-0156552BC734}">
      <dgm:prSet phldrT="[Text]"/>
      <dgm:spPr/>
      <dgm:t>
        <a:bodyPr/>
        <a:lstStyle/>
        <a:p>
          <a:pPr>
            <a:buClrTx/>
            <a:buSzTx/>
            <a:buFontTx/>
            <a:buChar char="•"/>
          </a:pPr>
          <a:r>
            <a:rPr kumimoji="0" lang="en-US" altLang="en-US" b="1" i="0" u="none" strike="noStrike" cap="none" normalizeH="0" baseline="0" dirty="0">
              <a:ln/>
              <a:effectLst/>
              <a:latin typeface="Arial" panose="020B0604020202020204" pitchFamily="34" charset="0"/>
            </a:rPr>
            <a:t>Overfitting:</a:t>
          </a:r>
          <a:r>
            <a:rPr kumimoji="0" lang="en-US" altLang="en-US" b="0" i="0" u="none" strike="noStrike" cap="none" normalizeH="0" baseline="0" dirty="0">
              <a:ln/>
              <a:effectLst/>
              <a:latin typeface="Arial" panose="020B0604020202020204" pitchFamily="34" charset="0"/>
            </a:rPr>
            <a:t> Neural networks can memorize data instead of learning general patterns, leading to poor performance on new, unseen data.</a:t>
          </a:r>
          <a:endParaRPr lang="en-IN" dirty="0"/>
        </a:p>
      </dgm:t>
    </dgm:pt>
    <dgm:pt modelId="{4FFEE608-BD9E-476E-8E47-07D8AE980EFC}" type="parTrans" cxnId="{275DDD95-9E99-44B7-9A04-9D80D361F1E9}">
      <dgm:prSet/>
      <dgm:spPr/>
      <dgm:t>
        <a:bodyPr/>
        <a:lstStyle/>
        <a:p>
          <a:endParaRPr lang="en-IN"/>
        </a:p>
      </dgm:t>
    </dgm:pt>
    <dgm:pt modelId="{3C27A263-DF71-4308-BC87-0AE1CCD01149}" type="sibTrans" cxnId="{275DDD95-9E99-44B7-9A04-9D80D361F1E9}">
      <dgm:prSet/>
      <dgm:spPr/>
      <dgm:t>
        <a:bodyPr/>
        <a:lstStyle/>
        <a:p>
          <a:endParaRPr lang="en-IN"/>
        </a:p>
      </dgm:t>
    </dgm:pt>
    <dgm:pt modelId="{B50637A9-C487-47C5-BC8E-7D38CBAF93EE}" type="pres">
      <dgm:prSet presAssocID="{C1FF7D74-7A39-43AF-B40C-1D9EACA53038}" presName="Name0" presStyleCnt="0">
        <dgm:presLayoutVars>
          <dgm:dir/>
          <dgm:resizeHandles val="exact"/>
        </dgm:presLayoutVars>
      </dgm:prSet>
      <dgm:spPr/>
    </dgm:pt>
    <dgm:pt modelId="{AA5D1BFC-012A-4226-B1DA-7A2E2A2EB619}" type="pres">
      <dgm:prSet presAssocID="{E0C4CE26-9E52-4099-BD98-ABB113E15013}" presName="node" presStyleLbl="node1" presStyleIdx="0" presStyleCnt="3">
        <dgm:presLayoutVars>
          <dgm:bulletEnabled val="1"/>
        </dgm:presLayoutVars>
      </dgm:prSet>
      <dgm:spPr/>
    </dgm:pt>
    <dgm:pt modelId="{5ABB6687-3A54-4BE6-AD12-E618FCCB6DC3}" type="pres">
      <dgm:prSet presAssocID="{002D469C-ACDD-4D17-9D83-21EF6C402FFA}" presName="sibTrans" presStyleCnt="0"/>
      <dgm:spPr/>
    </dgm:pt>
    <dgm:pt modelId="{32481D18-AB60-42EF-98DB-BA3007B83646}" type="pres">
      <dgm:prSet presAssocID="{72D7AF0F-8C8A-471F-8FBA-3F0821F06501}" presName="node" presStyleLbl="node1" presStyleIdx="1" presStyleCnt="3">
        <dgm:presLayoutVars>
          <dgm:bulletEnabled val="1"/>
        </dgm:presLayoutVars>
      </dgm:prSet>
      <dgm:spPr/>
    </dgm:pt>
    <dgm:pt modelId="{A9654316-CEB0-430A-A01D-FF7840A6B875}" type="pres">
      <dgm:prSet presAssocID="{1055EBFC-59FD-41B4-90AA-CE4A4825C128}" presName="sibTrans" presStyleCnt="0"/>
      <dgm:spPr/>
    </dgm:pt>
    <dgm:pt modelId="{B713A76E-27E7-4EA0-84E3-5DAAEDCDF369}" type="pres">
      <dgm:prSet presAssocID="{A708943B-67C3-4D22-AEAC-0156552BC734}" presName="node" presStyleLbl="node1" presStyleIdx="2" presStyleCnt="3">
        <dgm:presLayoutVars>
          <dgm:bulletEnabled val="1"/>
        </dgm:presLayoutVars>
      </dgm:prSet>
      <dgm:spPr/>
    </dgm:pt>
  </dgm:ptLst>
  <dgm:cxnLst>
    <dgm:cxn modelId="{95685F35-6B56-41B0-966C-E95C1968227F}" type="presOf" srcId="{E0C4CE26-9E52-4099-BD98-ABB113E15013}" destId="{AA5D1BFC-012A-4226-B1DA-7A2E2A2EB619}" srcOrd="0" destOrd="0" presId="urn:microsoft.com/office/officeart/2005/8/layout/hList6"/>
    <dgm:cxn modelId="{69FF6E6E-BC6A-45B0-9304-17497606A012}" srcId="{C1FF7D74-7A39-43AF-B40C-1D9EACA53038}" destId="{E0C4CE26-9E52-4099-BD98-ABB113E15013}" srcOrd="0" destOrd="0" parTransId="{C4CC2702-2AF5-474A-99DB-6A6E49878ACB}" sibTransId="{002D469C-ACDD-4D17-9D83-21EF6C402FFA}"/>
    <dgm:cxn modelId="{02854A53-331F-48C7-A147-8C7479C6F008}" type="presOf" srcId="{C1FF7D74-7A39-43AF-B40C-1D9EACA53038}" destId="{B50637A9-C487-47C5-BC8E-7D38CBAF93EE}" srcOrd="0" destOrd="0" presId="urn:microsoft.com/office/officeart/2005/8/layout/hList6"/>
    <dgm:cxn modelId="{3993A373-7D5A-4F7F-8BB2-0E3E706EEEC5}" type="presOf" srcId="{72D7AF0F-8C8A-471F-8FBA-3F0821F06501}" destId="{32481D18-AB60-42EF-98DB-BA3007B83646}" srcOrd="0" destOrd="0" presId="urn:microsoft.com/office/officeart/2005/8/layout/hList6"/>
    <dgm:cxn modelId="{2C524259-4C6E-489C-94D0-BC002DBB7290}" srcId="{C1FF7D74-7A39-43AF-B40C-1D9EACA53038}" destId="{72D7AF0F-8C8A-471F-8FBA-3F0821F06501}" srcOrd="1" destOrd="0" parTransId="{CDE9A9C4-23C4-42AC-B42C-A3F12D2A33BA}" sibTransId="{1055EBFC-59FD-41B4-90AA-CE4A4825C128}"/>
    <dgm:cxn modelId="{275DDD95-9E99-44B7-9A04-9D80D361F1E9}" srcId="{C1FF7D74-7A39-43AF-B40C-1D9EACA53038}" destId="{A708943B-67C3-4D22-AEAC-0156552BC734}" srcOrd="2" destOrd="0" parTransId="{4FFEE608-BD9E-476E-8E47-07D8AE980EFC}" sibTransId="{3C27A263-DF71-4308-BC87-0AE1CCD01149}"/>
    <dgm:cxn modelId="{E72AC0AF-4888-46B7-8776-75CDDBDF56DF}" type="presOf" srcId="{A708943B-67C3-4D22-AEAC-0156552BC734}" destId="{B713A76E-27E7-4EA0-84E3-5DAAEDCDF369}" srcOrd="0" destOrd="0" presId="urn:microsoft.com/office/officeart/2005/8/layout/hList6"/>
    <dgm:cxn modelId="{5EA2A7C0-32D2-4D6F-93F7-D79A516B9647}" type="presParOf" srcId="{B50637A9-C487-47C5-BC8E-7D38CBAF93EE}" destId="{AA5D1BFC-012A-4226-B1DA-7A2E2A2EB619}" srcOrd="0" destOrd="0" presId="urn:microsoft.com/office/officeart/2005/8/layout/hList6"/>
    <dgm:cxn modelId="{54E0058D-2695-4C9A-8AA0-BA4F112BA72C}" type="presParOf" srcId="{B50637A9-C487-47C5-BC8E-7D38CBAF93EE}" destId="{5ABB6687-3A54-4BE6-AD12-E618FCCB6DC3}" srcOrd="1" destOrd="0" presId="urn:microsoft.com/office/officeart/2005/8/layout/hList6"/>
    <dgm:cxn modelId="{FC78DE90-CAB1-43E1-8082-154AA0CB2578}" type="presParOf" srcId="{B50637A9-C487-47C5-BC8E-7D38CBAF93EE}" destId="{32481D18-AB60-42EF-98DB-BA3007B83646}" srcOrd="2" destOrd="0" presId="urn:microsoft.com/office/officeart/2005/8/layout/hList6"/>
    <dgm:cxn modelId="{AD65BBBE-31C6-4B32-AEFE-ED83AA8D09F6}" type="presParOf" srcId="{B50637A9-C487-47C5-BC8E-7D38CBAF93EE}" destId="{A9654316-CEB0-430A-A01D-FF7840A6B875}" srcOrd="3" destOrd="0" presId="urn:microsoft.com/office/officeart/2005/8/layout/hList6"/>
    <dgm:cxn modelId="{2D538862-5F76-4806-BEFD-D12002036ABB}" type="presParOf" srcId="{B50637A9-C487-47C5-BC8E-7D38CBAF93EE}" destId="{B713A76E-27E7-4EA0-84E3-5DAAEDCDF369}"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91A39D-3A65-4D94-9EA2-B4188C904E81}" type="doc">
      <dgm:prSet loTypeId="urn:microsoft.com/office/officeart/2005/8/layout/hList6" loCatId="list" qsTypeId="urn:microsoft.com/office/officeart/2005/8/quickstyle/3d3" qsCatId="3D" csTypeId="urn:microsoft.com/office/officeart/2005/8/colors/accent1_3" csCatId="accent1" phldr="1"/>
      <dgm:spPr/>
      <dgm:t>
        <a:bodyPr/>
        <a:lstStyle/>
        <a:p>
          <a:endParaRPr lang="en-IN"/>
        </a:p>
      </dgm:t>
    </dgm:pt>
    <dgm:pt modelId="{EBDDE279-ACBF-460F-9A70-B195C79F9055}">
      <dgm:prSet phldrT="[Text]"/>
      <dgm:spPr/>
      <dgm:t>
        <a:bodyPr/>
        <a:lstStyle/>
        <a:p>
          <a:pPr>
            <a:buClrTx/>
            <a:buSzTx/>
            <a:buFontTx/>
            <a:buChar char="•"/>
          </a:pPr>
          <a:r>
            <a:rPr kumimoji="0" lang="en-US" altLang="en-US" b="1" i="0" u="none" strike="noStrike" cap="none" normalizeH="0" baseline="0" dirty="0">
              <a:ln/>
              <a:effectLst/>
              <a:latin typeface="Arial" panose="020B0604020202020204" pitchFamily="34" charset="0"/>
            </a:rPr>
            <a:t>Interpretability:</a:t>
          </a:r>
          <a:r>
            <a:rPr kumimoji="0" lang="en-US" altLang="en-US" b="0" i="0" u="none" strike="noStrike" cap="none" normalizeH="0" baseline="0" dirty="0">
              <a:ln/>
              <a:effectLst/>
              <a:latin typeface="Arial" panose="020B0604020202020204" pitchFamily="34" charset="0"/>
            </a:rPr>
            <a:t> Neural networks are often considered "black boxes," meaning their decision-making process is hard to understand, especially in complex models.</a:t>
          </a:r>
          <a:endParaRPr lang="en-IN" dirty="0"/>
        </a:p>
      </dgm:t>
    </dgm:pt>
    <dgm:pt modelId="{737618AE-4B6F-4326-8AF6-2AFF982EC5BB}" type="parTrans" cxnId="{4B1C2AB6-ACCF-47F1-B0AB-06E4C19622E2}">
      <dgm:prSet/>
      <dgm:spPr/>
      <dgm:t>
        <a:bodyPr/>
        <a:lstStyle/>
        <a:p>
          <a:endParaRPr lang="en-IN"/>
        </a:p>
      </dgm:t>
    </dgm:pt>
    <dgm:pt modelId="{86247253-F0EF-46AE-BE1F-5164DA6F954C}" type="sibTrans" cxnId="{4B1C2AB6-ACCF-47F1-B0AB-06E4C19622E2}">
      <dgm:prSet/>
      <dgm:spPr/>
      <dgm:t>
        <a:bodyPr/>
        <a:lstStyle/>
        <a:p>
          <a:endParaRPr lang="en-IN"/>
        </a:p>
      </dgm:t>
    </dgm:pt>
    <dgm:pt modelId="{6FC40A69-67F5-41BE-9BD3-8106C66BA126}">
      <dgm:prSet phldrT="[Text]"/>
      <dgm:spPr/>
      <dgm:t>
        <a:bodyPr/>
        <a:lstStyle/>
        <a:p>
          <a:pPr>
            <a:buClrTx/>
            <a:buSzTx/>
            <a:buFontTx/>
            <a:buChar char="•"/>
          </a:pPr>
          <a:r>
            <a:rPr kumimoji="0" lang="en-US" altLang="en-US" b="1" i="0" u="none" strike="noStrike" cap="none" normalizeH="0" baseline="0">
              <a:ln/>
              <a:effectLst/>
              <a:latin typeface="Arial" panose="020B0604020202020204" pitchFamily="34" charset="0"/>
            </a:rPr>
            <a:t>Training Time:</a:t>
          </a:r>
          <a:r>
            <a:rPr kumimoji="0" lang="en-US" altLang="en-US" b="0" i="0" u="none" strike="noStrike" cap="none" normalizeH="0" baseline="0">
              <a:ln/>
              <a:effectLst/>
              <a:latin typeface="Arial" panose="020B0604020202020204" pitchFamily="34" charset="0"/>
            </a:rPr>
            <a:t> Training deep networks can take a long time, especially for large datasets, and fine-tuning parameters requires trial and error.</a:t>
          </a:r>
          <a:endParaRPr lang="en-IN" dirty="0"/>
        </a:p>
      </dgm:t>
    </dgm:pt>
    <dgm:pt modelId="{10C2127A-C5E1-434E-BCE4-E946BA79B06D}" type="parTrans" cxnId="{F24ED4ED-BD9B-4F82-8030-D8DECC66DC1B}">
      <dgm:prSet/>
      <dgm:spPr/>
      <dgm:t>
        <a:bodyPr/>
        <a:lstStyle/>
        <a:p>
          <a:endParaRPr lang="en-IN"/>
        </a:p>
      </dgm:t>
    </dgm:pt>
    <dgm:pt modelId="{284226FF-F614-40E4-9D66-DB6563C6EDB5}" type="sibTrans" cxnId="{F24ED4ED-BD9B-4F82-8030-D8DECC66DC1B}">
      <dgm:prSet/>
      <dgm:spPr/>
      <dgm:t>
        <a:bodyPr/>
        <a:lstStyle/>
        <a:p>
          <a:endParaRPr lang="en-IN"/>
        </a:p>
      </dgm:t>
    </dgm:pt>
    <dgm:pt modelId="{F3B24670-5592-4597-ABCC-DAC9B92C57B1}">
      <dgm:prSet phldrT="[Text]"/>
      <dgm:spPr/>
      <dgm:t>
        <a:bodyPr/>
        <a:lstStyle/>
        <a:p>
          <a:pPr>
            <a:buClrTx/>
            <a:buSzTx/>
            <a:buFontTx/>
            <a:buChar char="•"/>
          </a:pPr>
          <a:r>
            <a:rPr kumimoji="0" lang="en-US" altLang="en-US" b="1" i="0" u="none" strike="noStrike" cap="none" normalizeH="0" baseline="0">
              <a:ln/>
              <a:effectLst/>
              <a:latin typeface="Arial" panose="020B0604020202020204" pitchFamily="34" charset="0"/>
            </a:rPr>
            <a:t>Hyperparameter Tuning:</a:t>
          </a:r>
          <a:r>
            <a:rPr kumimoji="0" lang="en-US" altLang="en-US" b="0" i="0" u="none" strike="noStrike" cap="none" normalizeH="0" baseline="0">
              <a:ln/>
              <a:effectLst/>
              <a:latin typeface="Arial" panose="020B0604020202020204" pitchFamily="34" charset="0"/>
            </a:rPr>
            <a:t> Selecting the right architecture, learning rate, and other hyperparameters is often challenging and time-consuming.</a:t>
          </a:r>
          <a:endParaRPr lang="en-IN" dirty="0"/>
        </a:p>
      </dgm:t>
    </dgm:pt>
    <dgm:pt modelId="{9DDB8444-02BE-4137-BBEB-FB0C4ADB1812}" type="parTrans" cxnId="{F361A064-44B2-4C7D-BCD9-C661DF22390C}">
      <dgm:prSet/>
      <dgm:spPr/>
      <dgm:t>
        <a:bodyPr/>
        <a:lstStyle/>
        <a:p>
          <a:endParaRPr lang="en-IN"/>
        </a:p>
      </dgm:t>
    </dgm:pt>
    <dgm:pt modelId="{9F25465E-AE0A-4694-971B-B9B57844CECC}" type="sibTrans" cxnId="{F361A064-44B2-4C7D-BCD9-C661DF22390C}">
      <dgm:prSet/>
      <dgm:spPr/>
      <dgm:t>
        <a:bodyPr/>
        <a:lstStyle/>
        <a:p>
          <a:endParaRPr lang="en-IN"/>
        </a:p>
      </dgm:t>
    </dgm:pt>
    <dgm:pt modelId="{DFD58AF0-94CF-47DF-B157-93D57E158C6F}" type="pres">
      <dgm:prSet presAssocID="{0B91A39D-3A65-4D94-9EA2-B4188C904E81}" presName="Name0" presStyleCnt="0">
        <dgm:presLayoutVars>
          <dgm:dir/>
          <dgm:resizeHandles val="exact"/>
        </dgm:presLayoutVars>
      </dgm:prSet>
      <dgm:spPr/>
    </dgm:pt>
    <dgm:pt modelId="{B0907732-2849-438A-A5F2-7BA9FBFC3EDA}" type="pres">
      <dgm:prSet presAssocID="{EBDDE279-ACBF-460F-9A70-B195C79F9055}" presName="node" presStyleLbl="node1" presStyleIdx="0" presStyleCnt="3">
        <dgm:presLayoutVars>
          <dgm:bulletEnabled val="1"/>
        </dgm:presLayoutVars>
      </dgm:prSet>
      <dgm:spPr/>
    </dgm:pt>
    <dgm:pt modelId="{04E520E4-130D-444A-8584-31C49E6D99B5}" type="pres">
      <dgm:prSet presAssocID="{86247253-F0EF-46AE-BE1F-5164DA6F954C}" presName="sibTrans" presStyleCnt="0"/>
      <dgm:spPr/>
    </dgm:pt>
    <dgm:pt modelId="{F523EF2F-FAD3-4211-A90A-A8AEF5F6D2DC}" type="pres">
      <dgm:prSet presAssocID="{6FC40A69-67F5-41BE-9BD3-8106C66BA126}" presName="node" presStyleLbl="node1" presStyleIdx="1" presStyleCnt="3">
        <dgm:presLayoutVars>
          <dgm:bulletEnabled val="1"/>
        </dgm:presLayoutVars>
      </dgm:prSet>
      <dgm:spPr/>
    </dgm:pt>
    <dgm:pt modelId="{8207A84E-B4E2-4256-A6B3-90CF72C95008}" type="pres">
      <dgm:prSet presAssocID="{284226FF-F614-40E4-9D66-DB6563C6EDB5}" presName="sibTrans" presStyleCnt="0"/>
      <dgm:spPr/>
    </dgm:pt>
    <dgm:pt modelId="{FEF5DE2D-9EA4-420F-8E44-775B7F0D8279}" type="pres">
      <dgm:prSet presAssocID="{F3B24670-5592-4597-ABCC-DAC9B92C57B1}" presName="node" presStyleLbl="node1" presStyleIdx="2" presStyleCnt="3">
        <dgm:presLayoutVars>
          <dgm:bulletEnabled val="1"/>
        </dgm:presLayoutVars>
      </dgm:prSet>
      <dgm:spPr/>
    </dgm:pt>
  </dgm:ptLst>
  <dgm:cxnLst>
    <dgm:cxn modelId="{3209D15C-99F1-4361-B458-5A95E5C7B6EC}" type="presOf" srcId="{F3B24670-5592-4597-ABCC-DAC9B92C57B1}" destId="{FEF5DE2D-9EA4-420F-8E44-775B7F0D8279}" srcOrd="0" destOrd="0" presId="urn:microsoft.com/office/officeart/2005/8/layout/hList6"/>
    <dgm:cxn modelId="{F361A064-44B2-4C7D-BCD9-C661DF22390C}" srcId="{0B91A39D-3A65-4D94-9EA2-B4188C904E81}" destId="{F3B24670-5592-4597-ABCC-DAC9B92C57B1}" srcOrd="2" destOrd="0" parTransId="{9DDB8444-02BE-4137-BBEB-FB0C4ADB1812}" sibTransId="{9F25465E-AE0A-4694-971B-B9B57844CECC}"/>
    <dgm:cxn modelId="{123F126A-C827-49E6-A451-4AE84950657F}" type="presOf" srcId="{EBDDE279-ACBF-460F-9A70-B195C79F9055}" destId="{B0907732-2849-438A-A5F2-7BA9FBFC3EDA}" srcOrd="0" destOrd="0" presId="urn:microsoft.com/office/officeart/2005/8/layout/hList6"/>
    <dgm:cxn modelId="{A9A3E3AD-5870-46B8-B6FD-E8D1DF616C16}" type="presOf" srcId="{6FC40A69-67F5-41BE-9BD3-8106C66BA126}" destId="{F523EF2F-FAD3-4211-A90A-A8AEF5F6D2DC}" srcOrd="0" destOrd="0" presId="urn:microsoft.com/office/officeart/2005/8/layout/hList6"/>
    <dgm:cxn modelId="{4B1C2AB6-ACCF-47F1-B0AB-06E4C19622E2}" srcId="{0B91A39D-3A65-4D94-9EA2-B4188C904E81}" destId="{EBDDE279-ACBF-460F-9A70-B195C79F9055}" srcOrd="0" destOrd="0" parTransId="{737618AE-4B6F-4326-8AF6-2AFF982EC5BB}" sibTransId="{86247253-F0EF-46AE-BE1F-5164DA6F954C}"/>
    <dgm:cxn modelId="{D951A6E4-CEA1-4EBE-ACD1-20F20BC43A61}" type="presOf" srcId="{0B91A39D-3A65-4D94-9EA2-B4188C904E81}" destId="{DFD58AF0-94CF-47DF-B157-93D57E158C6F}" srcOrd="0" destOrd="0" presId="urn:microsoft.com/office/officeart/2005/8/layout/hList6"/>
    <dgm:cxn modelId="{F24ED4ED-BD9B-4F82-8030-D8DECC66DC1B}" srcId="{0B91A39D-3A65-4D94-9EA2-B4188C904E81}" destId="{6FC40A69-67F5-41BE-9BD3-8106C66BA126}" srcOrd="1" destOrd="0" parTransId="{10C2127A-C5E1-434E-BCE4-E946BA79B06D}" sibTransId="{284226FF-F614-40E4-9D66-DB6563C6EDB5}"/>
    <dgm:cxn modelId="{69017A05-F4F3-45D0-995D-9A1D7565D56A}" type="presParOf" srcId="{DFD58AF0-94CF-47DF-B157-93D57E158C6F}" destId="{B0907732-2849-438A-A5F2-7BA9FBFC3EDA}" srcOrd="0" destOrd="0" presId="urn:microsoft.com/office/officeart/2005/8/layout/hList6"/>
    <dgm:cxn modelId="{5E0ACD08-6A36-41AE-9588-455D612FE571}" type="presParOf" srcId="{DFD58AF0-94CF-47DF-B157-93D57E158C6F}" destId="{04E520E4-130D-444A-8584-31C49E6D99B5}" srcOrd="1" destOrd="0" presId="urn:microsoft.com/office/officeart/2005/8/layout/hList6"/>
    <dgm:cxn modelId="{6FF605EC-2BC8-4392-8E47-D3046A30EBF2}" type="presParOf" srcId="{DFD58AF0-94CF-47DF-B157-93D57E158C6F}" destId="{F523EF2F-FAD3-4211-A90A-A8AEF5F6D2DC}" srcOrd="2" destOrd="0" presId="urn:microsoft.com/office/officeart/2005/8/layout/hList6"/>
    <dgm:cxn modelId="{F2F2AFB7-3CE0-4354-8D42-9577F4BF9DA0}" type="presParOf" srcId="{DFD58AF0-94CF-47DF-B157-93D57E158C6F}" destId="{8207A84E-B4E2-4256-A6B3-90CF72C95008}" srcOrd="3" destOrd="0" presId="urn:microsoft.com/office/officeart/2005/8/layout/hList6"/>
    <dgm:cxn modelId="{5F291D71-C244-42FF-A96A-4AD72D3EF9B7}" type="presParOf" srcId="{DFD58AF0-94CF-47DF-B157-93D57E158C6F}" destId="{FEF5DE2D-9EA4-420F-8E44-775B7F0D8279}" srcOrd="4"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4D81BD-A3ED-4134-B418-BD382BC6F7F9}"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IN"/>
        </a:p>
      </dgm:t>
    </dgm:pt>
    <dgm:pt modelId="{05C27171-1985-4612-8328-A455E93D38B4}">
      <dgm:prSet phldrT="[Text]" phldr="1"/>
      <dgm:spPr/>
      <dgm:t>
        <a:bodyPr/>
        <a:lstStyle/>
        <a:p>
          <a:endParaRPr lang="en-IN" dirty="0"/>
        </a:p>
      </dgm:t>
    </dgm:pt>
    <dgm:pt modelId="{7B085313-AEC7-43FF-8EBC-E6A34DCDBF3E}" type="parTrans" cxnId="{3DDBEBD6-8011-4AED-96D8-BFF8B4D8EF4B}">
      <dgm:prSet/>
      <dgm:spPr/>
      <dgm:t>
        <a:bodyPr/>
        <a:lstStyle/>
        <a:p>
          <a:endParaRPr lang="en-IN"/>
        </a:p>
      </dgm:t>
    </dgm:pt>
    <dgm:pt modelId="{C01D8495-05BD-454F-9349-D209BA483F44}" type="sibTrans" cxnId="{3DDBEBD6-8011-4AED-96D8-BFF8B4D8EF4B}">
      <dgm:prSet/>
      <dgm:spPr/>
      <dgm:t>
        <a:bodyPr/>
        <a:lstStyle/>
        <a:p>
          <a:endParaRPr lang="en-IN"/>
        </a:p>
      </dgm:t>
    </dgm:pt>
    <dgm:pt modelId="{6252F99D-5302-4E56-B5B8-775733AFCB27}">
      <dgm:prSet phldrT="[Text]"/>
      <dgm:spPr/>
      <dgm:t>
        <a:bodyPr/>
        <a:lstStyle/>
        <a:p>
          <a:r>
            <a:rPr lang="en-IN" b="0" dirty="0"/>
            <a:t>Object Detection</a:t>
          </a:r>
        </a:p>
      </dgm:t>
    </dgm:pt>
    <dgm:pt modelId="{5954E137-1C6C-49DD-884E-3334431A1310}" type="parTrans" cxnId="{0DECA398-677B-49D1-8C33-ED8A1C83EDA9}">
      <dgm:prSet/>
      <dgm:spPr/>
      <dgm:t>
        <a:bodyPr/>
        <a:lstStyle/>
        <a:p>
          <a:endParaRPr lang="en-IN"/>
        </a:p>
      </dgm:t>
    </dgm:pt>
    <dgm:pt modelId="{B5D1B1FB-A2C5-4BA8-9EF2-940AC78031D0}" type="sibTrans" cxnId="{0DECA398-677B-49D1-8C33-ED8A1C83EDA9}">
      <dgm:prSet/>
      <dgm:spPr/>
      <dgm:t>
        <a:bodyPr/>
        <a:lstStyle/>
        <a:p>
          <a:endParaRPr lang="en-IN"/>
        </a:p>
      </dgm:t>
    </dgm:pt>
    <dgm:pt modelId="{E5558735-9B95-4E52-B082-58CA48C17840}">
      <dgm:prSet phldrT="[Text]"/>
      <dgm:spPr/>
      <dgm:t>
        <a:bodyPr/>
        <a:lstStyle/>
        <a:p>
          <a:r>
            <a:rPr lang="en-IN" b="0" dirty="0"/>
            <a:t>Face Recognition</a:t>
          </a:r>
        </a:p>
      </dgm:t>
    </dgm:pt>
    <dgm:pt modelId="{C4B9EE62-EC6C-405F-987D-C9591740A5AD}" type="parTrans" cxnId="{8AB7711B-4D18-47B1-BCB7-975873511BDB}">
      <dgm:prSet/>
      <dgm:spPr/>
      <dgm:t>
        <a:bodyPr/>
        <a:lstStyle/>
        <a:p>
          <a:endParaRPr lang="en-IN"/>
        </a:p>
      </dgm:t>
    </dgm:pt>
    <dgm:pt modelId="{1E7CFD7D-F601-4400-916D-8CE9B494048A}" type="sibTrans" cxnId="{8AB7711B-4D18-47B1-BCB7-975873511BDB}">
      <dgm:prSet/>
      <dgm:spPr/>
      <dgm:t>
        <a:bodyPr/>
        <a:lstStyle/>
        <a:p>
          <a:endParaRPr lang="en-IN"/>
        </a:p>
      </dgm:t>
    </dgm:pt>
    <dgm:pt modelId="{5B4FE713-D631-4D52-AFEA-CBCCEFD7B300}">
      <dgm:prSet phldrT="[Text]" phldr="1"/>
      <dgm:spPr/>
      <dgm:t>
        <a:bodyPr/>
        <a:lstStyle/>
        <a:p>
          <a:endParaRPr lang="en-IN" dirty="0"/>
        </a:p>
      </dgm:t>
    </dgm:pt>
    <dgm:pt modelId="{C5E9740B-E91A-447C-BA70-9056F9F1E149}" type="parTrans" cxnId="{FA52EAE0-CA94-4018-9E78-1A979F1D89E8}">
      <dgm:prSet/>
      <dgm:spPr/>
      <dgm:t>
        <a:bodyPr/>
        <a:lstStyle/>
        <a:p>
          <a:endParaRPr lang="en-IN"/>
        </a:p>
      </dgm:t>
    </dgm:pt>
    <dgm:pt modelId="{53CBBC67-3F58-4113-A6FF-91EF97B5D885}" type="sibTrans" cxnId="{FA52EAE0-CA94-4018-9E78-1A979F1D89E8}">
      <dgm:prSet/>
      <dgm:spPr/>
      <dgm:t>
        <a:bodyPr/>
        <a:lstStyle/>
        <a:p>
          <a:endParaRPr lang="en-IN"/>
        </a:p>
      </dgm:t>
    </dgm:pt>
    <dgm:pt modelId="{AA110744-372C-4529-8F07-A1B014DDB783}">
      <dgm:prSet phldrT="[Text]"/>
      <dgm:spPr/>
      <dgm:t>
        <a:bodyPr/>
        <a:lstStyle/>
        <a:p>
          <a:r>
            <a:rPr lang="en-US" dirty="0"/>
            <a:t>Sentimental Analysis</a:t>
          </a:r>
          <a:endParaRPr lang="en-IN" dirty="0"/>
        </a:p>
      </dgm:t>
    </dgm:pt>
    <dgm:pt modelId="{9CD1BA81-252F-493E-8384-AAB784BD24B2}" type="parTrans" cxnId="{03157C08-1B88-4540-B512-2EB9ECAD782E}">
      <dgm:prSet/>
      <dgm:spPr/>
      <dgm:t>
        <a:bodyPr/>
        <a:lstStyle/>
        <a:p>
          <a:endParaRPr lang="en-IN"/>
        </a:p>
      </dgm:t>
    </dgm:pt>
    <dgm:pt modelId="{96616800-E3BB-4A0E-9F65-E633E903266B}" type="sibTrans" cxnId="{03157C08-1B88-4540-B512-2EB9ECAD782E}">
      <dgm:prSet/>
      <dgm:spPr/>
      <dgm:t>
        <a:bodyPr/>
        <a:lstStyle/>
        <a:p>
          <a:endParaRPr lang="en-IN"/>
        </a:p>
      </dgm:t>
    </dgm:pt>
    <dgm:pt modelId="{E78EC31D-16C8-45C3-B23D-511A01EBD8F8}">
      <dgm:prSet phldrT="[Text]"/>
      <dgm:spPr/>
      <dgm:t>
        <a:bodyPr/>
        <a:lstStyle/>
        <a:p>
          <a:r>
            <a:rPr lang="en-US" dirty="0"/>
            <a:t>Drones and UAVs</a:t>
          </a:r>
          <a:endParaRPr lang="en-IN" dirty="0"/>
        </a:p>
      </dgm:t>
    </dgm:pt>
    <dgm:pt modelId="{44E4DA58-CBFB-4F6D-9C3D-F2A74E44E741}" type="parTrans" cxnId="{64E1996F-EF07-4C39-BB0E-75677838EAA1}">
      <dgm:prSet/>
      <dgm:spPr/>
      <dgm:t>
        <a:bodyPr/>
        <a:lstStyle/>
        <a:p>
          <a:endParaRPr lang="en-IN"/>
        </a:p>
      </dgm:t>
    </dgm:pt>
    <dgm:pt modelId="{E966D045-7895-45AB-B5CE-B0A145628F6F}" type="sibTrans" cxnId="{64E1996F-EF07-4C39-BB0E-75677838EAA1}">
      <dgm:prSet/>
      <dgm:spPr/>
      <dgm:t>
        <a:bodyPr/>
        <a:lstStyle/>
        <a:p>
          <a:endParaRPr lang="en-IN"/>
        </a:p>
      </dgm:t>
    </dgm:pt>
    <dgm:pt modelId="{7EF50C94-D4BD-423F-871C-9977A0F11E8E}">
      <dgm:prSet phldrT="[Text]" phldr="1"/>
      <dgm:spPr/>
      <dgm:t>
        <a:bodyPr/>
        <a:lstStyle/>
        <a:p>
          <a:endParaRPr lang="en-IN" dirty="0"/>
        </a:p>
      </dgm:t>
    </dgm:pt>
    <dgm:pt modelId="{4E15566E-37ED-4870-81A4-476730A4152F}" type="parTrans" cxnId="{A4B921C4-1672-4FAF-9DBD-D0891C961DBE}">
      <dgm:prSet/>
      <dgm:spPr/>
      <dgm:t>
        <a:bodyPr/>
        <a:lstStyle/>
        <a:p>
          <a:endParaRPr lang="en-IN"/>
        </a:p>
      </dgm:t>
    </dgm:pt>
    <dgm:pt modelId="{B540EE01-DF9D-42BC-8D95-4D13532E4A77}" type="sibTrans" cxnId="{A4B921C4-1672-4FAF-9DBD-D0891C961DBE}">
      <dgm:prSet/>
      <dgm:spPr/>
      <dgm:t>
        <a:bodyPr/>
        <a:lstStyle/>
        <a:p>
          <a:endParaRPr lang="en-IN"/>
        </a:p>
      </dgm:t>
    </dgm:pt>
    <dgm:pt modelId="{E4A2D33D-A925-4006-9DF4-3705FA0AB83E}">
      <dgm:prSet phldrT="[Text]"/>
      <dgm:spPr/>
      <dgm:t>
        <a:bodyPr/>
        <a:lstStyle/>
        <a:p>
          <a:r>
            <a:rPr lang="en-US" dirty="0"/>
            <a:t>Handwriting Recognition</a:t>
          </a:r>
          <a:endParaRPr lang="en-IN" dirty="0"/>
        </a:p>
      </dgm:t>
    </dgm:pt>
    <dgm:pt modelId="{9E96C388-3355-4245-B60D-2CDCF0134D50}" type="parTrans" cxnId="{09AD7893-70BA-4C6F-AB63-3CDEE1F2D79D}">
      <dgm:prSet/>
      <dgm:spPr/>
      <dgm:t>
        <a:bodyPr/>
        <a:lstStyle/>
        <a:p>
          <a:endParaRPr lang="en-IN"/>
        </a:p>
      </dgm:t>
    </dgm:pt>
    <dgm:pt modelId="{9A89D9A5-DF81-4A8F-80EF-3EEDF2C1409B}" type="sibTrans" cxnId="{09AD7893-70BA-4C6F-AB63-3CDEE1F2D79D}">
      <dgm:prSet/>
      <dgm:spPr/>
      <dgm:t>
        <a:bodyPr/>
        <a:lstStyle/>
        <a:p>
          <a:endParaRPr lang="en-IN"/>
        </a:p>
      </dgm:t>
    </dgm:pt>
    <dgm:pt modelId="{1C6A813B-695B-4F3A-89CA-5F51CEA3E463}">
      <dgm:prSet phldrT="[Text]"/>
      <dgm:spPr/>
      <dgm:t>
        <a:bodyPr/>
        <a:lstStyle/>
        <a:p>
          <a:r>
            <a:rPr lang="en-US" dirty="0"/>
            <a:t>Medical Imaging and Diagnostics</a:t>
          </a:r>
          <a:endParaRPr lang="en-IN" dirty="0"/>
        </a:p>
      </dgm:t>
    </dgm:pt>
    <dgm:pt modelId="{1646FB0B-C5BB-4D58-9044-7945BD29B68A}" type="parTrans" cxnId="{59DE47C2-133D-49B8-8ABC-474C4B3961AD}">
      <dgm:prSet/>
      <dgm:spPr/>
      <dgm:t>
        <a:bodyPr/>
        <a:lstStyle/>
        <a:p>
          <a:endParaRPr lang="en-IN"/>
        </a:p>
      </dgm:t>
    </dgm:pt>
    <dgm:pt modelId="{0D196654-FA65-46DB-AEC0-956099631DED}" type="sibTrans" cxnId="{59DE47C2-133D-49B8-8ABC-474C4B3961AD}">
      <dgm:prSet/>
      <dgm:spPr/>
      <dgm:t>
        <a:bodyPr/>
        <a:lstStyle/>
        <a:p>
          <a:endParaRPr lang="en-IN"/>
        </a:p>
      </dgm:t>
    </dgm:pt>
    <dgm:pt modelId="{0B794BCF-B0B6-46E9-B6C7-21022DABEDA2}" type="pres">
      <dgm:prSet presAssocID="{074D81BD-A3ED-4134-B418-BD382BC6F7F9}" presName="linearFlow" presStyleCnt="0">
        <dgm:presLayoutVars>
          <dgm:dir/>
          <dgm:animLvl val="lvl"/>
          <dgm:resizeHandles val="exact"/>
        </dgm:presLayoutVars>
      </dgm:prSet>
      <dgm:spPr/>
    </dgm:pt>
    <dgm:pt modelId="{80452503-D948-4C04-BCE3-D4CC83DFA564}" type="pres">
      <dgm:prSet presAssocID="{05C27171-1985-4612-8328-A455E93D38B4}" presName="composite" presStyleCnt="0"/>
      <dgm:spPr/>
    </dgm:pt>
    <dgm:pt modelId="{74F307E0-9E1A-4A37-8152-29431D6342CF}" type="pres">
      <dgm:prSet presAssocID="{05C27171-1985-4612-8328-A455E93D38B4}" presName="parentText" presStyleLbl="alignNode1" presStyleIdx="0" presStyleCnt="3">
        <dgm:presLayoutVars>
          <dgm:chMax val="1"/>
          <dgm:bulletEnabled val="1"/>
        </dgm:presLayoutVars>
      </dgm:prSet>
      <dgm:spPr/>
    </dgm:pt>
    <dgm:pt modelId="{DA46C944-26BF-434C-A5B0-00CC9A7C6926}" type="pres">
      <dgm:prSet presAssocID="{05C27171-1985-4612-8328-A455E93D38B4}" presName="descendantText" presStyleLbl="alignAcc1" presStyleIdx="0" presStyleCnt="3">
        <dgm:presLayoutVars>
          <dgm:bulletEnabled val="1"/>
        </dgm:presLayoutVars>
      </dgm:prSet>
      <dgm:spPr/>
    </dgm:pt>
    <dgm:pt modelId="{7D36A6F9-F7AA-4CA1-B429-3A0B2B6743C8}" type="pres">
      <dgm:prSet presAssocID="{C01D8495-05BD-454F-9349-D209BA483F44}" presName="sp" presStyleCnt="0"/>
      <dgm:spPr/>
    </dgm:pt>
    <dgm:pt modelId="{77690E73-FF43-4A37-B0D0-7E5C4FC80BD0}" type="pres">
      <dgm:prSet presAssocID="{5B4FE713-D631-4D52-AFEA-CBCCEFD7B300}" presName="composite" presStyleCnt="0"/>
      <dgm:spPr/>
    </dgm:pt>
    <dgm:pt modelId="{412996E6-9B66-4CBE-A1BE-B21FD999795C}" type="pres">
      <dgm:prSet presAssocID="{5B4FE713-D631-4D52-AFEA-CBCCEFD7B300}" presName="parentText" presStyleLbl="alignNode1" presStyleIdx="1" presStyleCnt="3">
        <dgm:presLayoutVars>
          <dgm:chMax val="1"/>
          <dgm:bulletEnabled val="1"/>
        </dgm:presLayoutVars>
      </dgm:prSet>
      <dgm:spPr/>
    </dgm:pt>
    <dgm:pt modelId="{07178E5B-4F31-4F92-9504-4E6B0644AFF4}" type="pres">
      <dgm:prSet presAssocID="{5B4FE713-D631-4D52-AFEA-CBCCEFD7B300}" presName="descendantText" presStyleLbl="alignAcc1" presStyleIdx="1" presStyleCnt="3">
        <dgm:presLayoutVars>
          <dgm:bulletEnabled val="1"/>
        </dgm:presLayoutVars>
      </dgm:prSet>
      <dgm:spPr/>
    </dgm:pt>
    <dgm:pt modelId="{E0EF28FF-E881-42A6-AC03-0EEAF196C887}" type="pres">
      <dgm:prSet presAssocID="{53CBBC67-3F58-4113-A6FF-91EF97B5D885}" presName="sp" presStyleCnt="0"/>
      <dgm:spPr/>
    </dgm:pt>
    <dgm:pt modelId="{14468066-8B6F-454E-B32D-DD6E2B9C48F0}" type="pres">
      <dgm:prSet presAssocID="{7EF50C94-D4BD-423F-871C-9977A0F11E8E}" presName="composite" presStyleCnt="0"/>
      <dgm:spPr/>
    </dgm:pt>
    <dgm:pt modelId="{2BF3B0EE-BF25-4EA7-9DC1-35F800159537}" type="pres">
      <dgm:prSet presAssocID="{7EF50C94-D4BD-423F-871C-9977A0F11E8E}" presName="parentText" presStyleLbl="alignNode1" presStyleIdx="2" presStyleCnt="3">
        <dgm:presLayoutVars>
          <dgm:chMax val="1"/>
          <dgm:bulletEnabled val="1"/>
        </dgm:presLayoutVars>
      </dgm:prSet>
      <dgm:spPr/>
    </dgm:pt>
    <dgm:pt modelId="{014F75D6-056D-4034-A8BC-6A7277347922}" type="pres">
      <dgm:prSet presAssocID="{7EF50C94-D4BD-423F-871C-9977A0F11E8E}" presName="descendantText" presStyleLbl="alignAcc1" presStyleIdx="2" presStyleCnt="3">
        <dgm:presLayoutVars>
          <dgm:bulletEnabled val="1"/>
        </dgm:presLayoutVars>
      </dgm:prSet>
      <dgm:spPr/>
    </dgm:pt>
  </dgm:ptLst>
  <dgm:cxnLst>
    <dgm:cxn modelId="{03157C08-1B88-4540-B512-2EB9ECAD782E}" srcId="{5B4FE713-D631-4D52-AFEA-CBCCEFD7B300}" destId="{AA110744-372C-4529-8F07-A1B014DDB783}" srcOrd="0" destOrd="0" parTransId="{9CD1BA81-252F-493E-8384-AAB784BD24B2}" sibTransId="{96616800-E3BB-4A0E-9F65-E633E903266B}"/>
    <dgm:cxn modelId="{C9DD9412-E0EF-42B4-A8FE-933CCF4D9195}" type="presOf" srcId="{5B4FE713-D631-4D52-AFEA-CBCCEFD7B300}" destId="{412996E6-9B66-4CBE-A1BE-B21FD999795C}" srcOrd="0" destOrd="0" presId="urn:microsoft.com/office/officeart/2005/8/layout/chevron2"/>
    <dgm:cxn modelId="{A811FA14-F6B4-4240-A039-C1CD29C11609}" type="presOf" srcId="{E5558735-9B95-4E52-B082-58CA48C17840}" destId="{DA46C944-26BF-434C-A5B0-00CC9A7C6926}" srcOrd="0" destOrd="1" presId="urn:microsoft.com/office/officeart/2005/8/layout/chevron2"/>
    <dgm:cxn modelId="{8AB7711B-4D18-47B1-BCB7-975873511BDB}" srcId="{05C27171-1985-4612-8328-A455E93D38B4}" destId="{E5558735-9B95-4E52-B082-58CA48C17840}" srcOrd="1" destOrd="0" parTransId="{C4B9EE62-EC6C-405F-987D-C9591740A5AD}" sibTransId="{1E7CFD7D-F601-4400-916D-8CE9B494048A}"/>
    <dgm:cxn modelId="{4E97DD32-8D07-49CD-A376-1126E88E5860}" type="presOf" srcId="{E4A2D33D-A925-4006-9DF4-3705FA0AB83E}" destId="{014F75D6-056D-4034-A8BC-6A7277347922}" srcOrd="0" destOrd="0" presId="urn:microsoft.com/office/officeart/2005/8/layout/chevron2"/>
    <dgm:cxn modelId="{B735A25D-35E9-4BFA-8E6F-304271D361E1}" type="presOf" srcId="{7EF50C94-D4BD-423F-871C-9977A0F11E8E}" destId="{2BF3B0EE-BF25-4EA7-9DC1-35F800159537}" srcOrd="0" destOrd="0" presId="urn:microsoft.com/office/officeart/2005/8/layout/chevron2"/>
    <dgm:cxn modelId="{2B27EC61-D658-41C7-8211-0AF91F25476D}" type="presOf" srcId="{AA110744-372C-4529-8F07-A1B014DDB783}" destId="{07178E5B-4F31-4F92-9504-4E6B0644AFF4}" srcOrd="0" destOrd="0" presId="urn:microsoft.com/office/officeart/2005/8/layout/chevron2"/>
    <dgm:cxn modelId="{FBA0B444-8A4E-42C7-8D8F-F4872F148FFD}" type="presOf" srcId="{E78EC31D-16C8-45C3-B23D-511A01EBD8F8}" destId="{07178E5B-4F31-4F92-9504-4E6B0644AFF4}" srcOrd="0" destOrd="1" presId="urn:microsoft.com/office/officeart/2005/8/layout/chevron2"/>
    <dgm:cxn modelId="{64E1996F-EF07-4C39-BB0E-75677838EAA1}" srcId="{5B4FE713-D631-4D52-AFEA-CBCCEFD7B300}" destId="{E78EC31D-16C8-45C3-B23D-511A01EBD8F8}" srcOrd="1" destOrd="0" parTransId="{44E4DA58-CBFB-4F6D-9C3D-F2A74E44E741}" sibTransId="{E966D045-7895-45AB-B5CE-B0A145628F6F}"/>
    <dgm:cxn modelId="{09AD7893-70BA-4C6F-AB63-3CDEE1F2D79D}" srcId="{7EF50C94-D4BD-423F-871C-9977A0F11E8E}" destId="{E4A2D33D-A925-4006-9DF4-3705FA0AB83E}" srcOrd="0" destOrd="0" parTransId="{9E96C388-3355-4245-B60D-2CDCF0134D50}" sibTransId="{9A89D9A5-DF81-4A8F-80EF-3EEDF2C1409B}"/>
    <dgm:cxn modelId="{0DECA398-677B-49D1-8C33-ED8A1C83EDA9}" srcId="{05C27171-1985-4612-8328-A455E93D38B4}" destId="{6252F99D-5302-4E56-B5B8-775733AFCB27}" srcOrd="0" destOrd="0" parTransId="{5954E137-1C6C-49DD-884E-3334431A1310}" sibTransId="{B5D1B1FB-A2C5-4BA8-9EF2-940AC78031D0}"/>
    <dgm:cxn modelId="{E8871EA6-34DF-449F-A06E-E267A2050600}" type="presOf" srcId="{05C27171-1985-4612-8328-A455E93D38B4}" destId="{74F307E0-9E1A-4A37-8152-29431D6342CF}" srcOrd="0" destOrd="0" presId="urn:microsoft.com/office/officeart/2005/8/layout/chevron2"/>
    <dgm:cxn modelId="{59DE47C2-133D-49B8-8ABC-474C4B3961AD}" srcId="{7EF50C94-D4BD-423F-871C-9977A0F11E8E}" destId="{1C6A813B-695B-4F3A-89CA-5F51CEA3E463}" srcOrd="1" destOrd="0" parTransId="{1646FB0B-C5BB-4D58-9044-7945BD29B68A}" sibTransId="{0D196654-FA65-46DB-AEC0-956099631DED}"/>
    <dgm:cxn modelId="{A4B921C4-1672-4FAF-9DBD-D0891C961DBE}" srcId="{074D81BD-A3ED-4134-B418-BD382BC6F7F9}" destId="{7EF50C94-D4BD-423F-871C-9977A0F11E8E}" srcOrd="2" destOrd="0" parTransId="{4E15566E-37ED-4870-81A4-476730A4152F}" sibTransId="{B540EE01-DF9D-42BC-8D95-4D13532E4A77}"/>
    <dgm:cxn modelId="{3DDBEBD6-8011-4AED-96D8-BFF8B4D8EF4B}" srcId="{074D81BD-A3ED-4134-B418-BD382BC6F7F9}" destId="{05C27171-1985-4612-8328-A455E93D38B4}" srcOrd="0" destOrd="0" parTransId="{7B085313-AEC7-43FF-8EBC-E6A34DCDBF3E}" sibTransId="{C01D8495-05BD-454F-9349-D209BA483F44}"/>
    <dgm:cxn modelId="{182417DC-1F27-4406-8C63-59C78CB2F3BE}" type="presOf" srcId="{1C6A813B-695B-4F3A-89CA-5F51CEA3E463}" destId="{014F75D6-056D-4034-A8BC-6A7277347922}" srcOrd="0" destOrd="1" presId="urn:microsoft.com/office/officeart/2005/8/layout/chevron2"/>
    <dgm:cxn modelId="{FA52EAE0-CA94-4018-9E78-1A979F1D89E8}" srcId="{074D81BD-A3ED-4134-B418-BD382BC6F7F9}" destId="{5B4FE713-D631-4D52-AFEA-CBCCEFD7B300}" srcOrd="1" destOrd="0" parTransId="{C5E9740B-E91A-447C-BA70-9056F9F1E149}" sibTransId="{53CBBC67-3F58-4113-A6FF-91EF97B5D885}"/>
    <dgm:cxn modelId="{44FA38EC-FDBA-405E-AD6C-C2DA12A1C894}" type="presOf" srcId="{6252F99D-5302-4E56-B5B8-775733AFCB27}" destId="{DA46C944-26BF-434C-A5B0-00CC9A7C6926}" srcOrd="0" destOrd="0" presId="urn:microsoft.com/office/officeart/2005/8/layout/chevron2"/>
    <dgm:cxn modelId="{998AE8EE-86E5-44E2-87E6-8AE01E228AB5}" type="presOf" srcId="{074D81BD-A3ED-4134-B418-BD382BC6F7F9}" destId="{0B794BCF-B0B6-46E9-B6C7-21022DABEDA2}" srcOrd="0" destOrd="0" presId="urn:microsoft.com/office/officeart/2005/8/layout/chevron2"/>
    <dgm:cxn modelId="{93B00EBE-F05F-4472-8A94-52313A14474D}" type="presParOf" srcId="{0B794BCF-B0B6-46E9-B6C7-21022DABEDA2}" destId="{80452503-D948-4C04-BCE3-D4CC83DFA564}" srcOrd="0" destOrd="0" presId="urn:microsoft.com/office/officeart/2005/8/layout/chevron2"/>
    <dgm:cxn modelId="{82AD74C9-888E-42EF-BD66-EBE12BC9219D}" type="presParOf" srcId="{80452503-D948-4C04-BCE3-D4CC83DFA564}" destId="{74F307E0-9E1A-4A37-8152-29431D6342CF}" srcOrd="0" destOrd="0" presId="urn:microsoft.com/office/officeart/2005/8/layout/chevron2"/>
    <dgm:cxn modelId="{7302E12A-92CB-4C72-B043-2D2CEBB8A28A}" type="presParOf" srcId="{80452503-D948-4C04-BCE3-D4CC83DFA564}" destId="{DA46C944-26BF-434C-A5B0-00CC9A7C6926}" srcOrd="1" destOrd="0" presId="urn:microsoft.com/office/officeart/2005/8/layout/chevron2"/>
    <dgm:cxn modelId="{F3A2A830-8790-4B95-8CBE-56F12F86F10A}" type="presParOf" srcId="{0B794BCF-B0B6-46E9-B6C7-21022DABEDA2}" destId="{7D36A6F9-F7AA-4CA1-B429-3A0B2B6743C8}" srcOrd="1" destOrd="0" presId="urn:microsoft.com/office/officeart/2005/8/layout/chevron2"/>
    <dgm:cxn modelId="{632BD8DB-B5F0-4864-8C01-783E64DA779C}" type="presParOf" srcId="{0B794BCF-B0B6-46E9-B6C7-21022DABEDA2}" destId="{77690E73-FF43-4A37-B0D0-7E5C4FC80BD0}" srcOrd="2" destOrd="0" presId="urn:microsoft.com/office/officeart/2005/8/layout/chevron2"/>
    <dgm:cxn modelId="{BD3CDB06-5776-4A78-82C9-4FD525628962}" type="presParOf" srcId="{77690E73-FF43-4A37-B0D0-7E5C4FC80BD0}" destId="{412996E6-9B66-4CBE-A1BE-B21FD999795C}" srcOrd="0" destOrd="0" presId="urn:microsoft.com/office/officeart/2005/8/layout/chevron2"/>
    <dgm:cxn modelId="{F278A38B-7812-4422-AE7E-2F5D1C0AF983}" type="presParOf" srcId="{77690E73-FF43-4A37-B0D0-7E5C4FC80BD0}" destId="{07178E5B-4F31-4F92-9504-4E6B0644AFF4}" srcOrd="1" destOrd="0" presId="urn:microsoft.com/office/officeart/2005/8/layout/chevron2"/>
    <dgm:cxn modelId="{5DE47D52-C13C-4784-ABB9-729EAFDD9F34}" type="presParOf" srcId="{0B794BCF-B0B6-46E9-B6C7-21022DABEDA2}" destId="{E0EF28FF-E881-42A6-AC03-0EEAF196C887}" srcOrd="3" destOrd="0" presId="urn:microsoft.com/office/officeart/2005/8/layout/chevron2"/>
    <dgm:cxn modelId="{BD10C82E-009F-475A-A7AD-C393B5DE7AA5}" type="presParOf" srcId="{0B794BCF-B0B6-46E9-B6C7-21022DABEDA2}" destId="{14468066-8B6F-454E-B32D-DD6E2B9C48F0}" srcOrd="4" destOrd="0" presId="urn:microsoft.com/office/officeart/2005/8/layout/chevron2"/>
    <dgm:cxn modelId="{51AD0926-F21F-45F1-85DD-59B139C5B791}" type="presParOf" srcId="{14468066-8B6F-454E-B32D-DD6E2B9C48F0}" destId="{2BF3B0EE-BF25-4EA7-9DC1-35F800159537}" srcOrd="0" destOrd="0" presId="urn:microsoft.com/office/officeart/2005/8/layout/chevron2"/>
    <dgm:cxn modelId="{9B83E8A5-DDE0-484D-93F9-6AB13360473D}" type="presParOf" srcId="{14468066-8B6F-454E-B32D-DD6E2B9C48F0}" destId="{014F75D6-056D-4034-A8BC-6A727734792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4B3263-82D7-40CB-9C91-8973879D3E42}">
      <dsp:nvSpPr>
        <dsp:cNvPr id="0" name=""/>
        <dsp:cNvSpPr/>
      </dsp:nvSpPr>
      <dsp:spPr>
        <a:xfrm>
          <a:off x="134784" y="0"/>
          <a:ext cx="1742297" cy="1715276"/>
        </a:xfrm>
        <a:prstGeom prst="roundRect">
          <a:avLst>
            <a:gd name="adj" fmla="val 10000"/>
          </a:avLst>
        </a:prstGeom>
        <a:solidFill>
          <a:schemeClr val="accent1">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t>1943:First </a:t>
          </a:r>
          <a:r>
            <a:rPr lang="en-US" sz="1600" kern="1200" dirty="0" err="1"/>
            <a:t>Airtificial</a:t>
          </a:r>
          <a:r>
            <a:rPr lang="en-US" sz="1600" kern="1200" dirty="0"/>
            <a:t> Neuron Model by </a:t>
          </a:r>
          <a:r>
            <a:rPr lang="en-US" sz="1600" kern="1200" dirty="0" err="1"/>
            <a:t>MCCulloch</a:t>
          </a:r>
          <a:r>
            <a:rPr lang="en-US" sz="1600" kern="1200" dirty="0"/>
            <a:t> and Pitts</a:t>
          </a:r>
          <a:endParaRPr lang="en-IN" sz="1600" kern="1200" dirty="0"/>
        </a:p>
      </dsp:txBody>
      <dsp:txXfrm>
        <a:off x="134784" y="0"/>
        <a:ext cx="1742297" cy="1143517"/>
      </dsp:txXfrm>
    </dsp:sp>
    <dsp:sp modelId="{10293129-A40B-4975-AA3D-12171B355BCD}">
      <dsp:nvSpPr>
        <dsp:cNvPr id="0" name=""/>
        <dsp:cNvSpPr/>
      </dsp:nvSpPr>
      <dsp:spPr>
        <a:xfrm>
          <a:off x="265483" y="2420957"/>
          <a:ext cx="1715836" cy="1015875"/>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r>
            <a:rPr lang="en-US" sz="1400" b="1" kern="1200" dirty="0"/>
            <a:t>2010s- Present</a:t>
          </a:r>
          <a:r>
            <a:rPr lang="en-US" sz="1400" kern="1200" dirty="0"/>
            <a:t>: Advancement in AI and Deep learning.</a:t>
          </a:r>
          <a:endParaRPr lang="en-IN" sz="1400" kern="1200" dirty="0"/>
        </a:p>
      </dsp:txBody>
      <dsp:txXfrm>
        <a:off x="295237" y="2450711"/>
        <a:ext cx="1656328" cy="956367"/>
      </dsp:txXfrm>
    </dsp:sp>
    <dsp:sp modelId="{FF1AED57-FEE2-4AA5-8A44-B3289FDE87F4}">
      <dsp:nvSpPr>
        <dsp:cNvPr id="0" name=""/>
        <dsp:cNvSpPr/>
      </dsp:nvSpPr>
      <dsp:spPr>
        <a:xfrm rot="456433">
          <a:off x="2029546" y="683171"/>
          <a:ext cx="329193" cy="324528"/>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IN" sz="400" kern="1200"/>
        </a:p>
      </dsp:txBody>
      <dsp:txXfrm>
        <a:off x="2029974" y="741633"/>
        <a:ext cx="231835" cy="194716"/>
      </dsp:txXfrm>
    </dsp:sp>
    <dsp:sp modelId="{A391AC8E-0169-48A2-B753-D9E364772FFC}">
      <dsp:nvSpPr>
        <dsp:cNvPr id="0" name=""/>
        <dsp:cNvSpPr/>
      </dsp:nvSpPr>
      <dsp:spPr>
        <a:xfrm>
          <a:off x="2492736" y="540518"/>
          <a:ext cx="1740589" cy="1038139"/>
        </a:xfrm>
        <a:prstGeom prst="roundRect">
          <a:avLst>
            <a:gd name="adj" fmla="val 10000"/>
          </a:avLst>
        </a:prstGeom>
        <a:solidFill>
          <a:schemeClr val="accent1">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t>1958: Frank Rosenblatt develops the Perceptron.</a:t>
          </a:r>
          <a:r>
            <a:rPr lang="en-US" sz="1000" kern="1200" dirty="0"/>
            <a:t> </a:t>
          </a:r>
          <a:endParaRPr lang="en-IN" sz="1000" kern="1200" dirty="0"/>
        </a:p>
      </dsp:txBody>
      <dsp:txXfrm>
        <a:off x="2492736" y="540518"/>
        <a:ext cx="1740589" cy="692092"/>
      </dsp:txXfrm>
    </dsp:sp>
    <dsp:sp modelId="{6C84A4E3-8325-49AB-A265-5DC1D207E586}">
      <dsp:nvSpPr>
        <dsp:cNvPr id="0" name=""/>
        <dsp:cNvSpPr/>
      </dsp:nvSpPr>
      <dsp:spPr>
        <a:xfrm>
          <a:off x="2386938" y="2239917"/>
          <a:ext cx="2019260" cy="1323227"/>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r>
            <a:rPr lang="en-US" sz="1400" b="1" kern="1200" dirty="0"/>
            <a:t>2012: </a:t>
          </a:r>
          <a:r>
            <a:rPr lang="en-US" sz="1400" b="1" kern="1200" dirty="0" err="1"/>
            <a:t>AlexNet</a:t>
          </a:r>
          <a:r>
            <a:rPr lang="en-US" sz="1400" kern="1200" dirty="0"/>
            <a:t> revolutionizes </a:t>
          </a:r>
          <a:r>
            <a:rPr lang="en-US" sz="1400" b="1" kern="1200" dirty="0"/>
            <a:t>image classification</a:t>
          </a:r>
          <a:r>
            <a:rPr lang="en-US" sz="1400" kern="1200" dirty="0"/>
            <a:t> with deep learning.</a:t>
          </a:r>
          <a:endParaRPr lang="en-IN" sz="1400" kern="1200" dirty="0"/>
        </a:p>
      </dsp:txBody>
      <dsp:txXfrm>
        <a:off x="2425694" y="2278673"/>
        <a:ext cx="1941748" cy="1245715"/>
      </dsp:txXfrm>
    </dsp:sp>
    <dsp:sp modelId="{1320F092-E648-4184-8571-1ED5BD7BE96A}">
      <dsp:nvSpPr>
        <dsp:cNvPr id="0" name=""/>
        <dsp:cNvSpPr/>
      </dsp:nvSpPr>
      <dsp:spPr>
        <a:xfrm rot="101747">
          <a:off x="4461692" y="932051"/>
          <a:ext cx="484574" cy="324528"/>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IN" sz="400" kern="1200"/>
        </a:p>
      </dsp:txBody>
      <dsp:txXfrm>
        <a:off x="4461713" y="995516"/>
        <a:ext cx="387216" cy="194716"/>
      </dsp:txXfrm>
    </dsp:sp>
    <dsp:sp modelId="{EB994806-C373-4DFA-BFA1-868B371CED9D}">
      <dsp:nvSpPr>
        <dsp:cNvPr id="0" name=""/>
        <dsp:cNvSpPr/>
      </dsp:nvSpPr>
      <dsp:spPr>
        <a:xfrm>
          <a:off x="5147217" y="409233"/>
          <a:ext cx="1715628" cy="1666648"/>
        </a:xfrm>
        <a:prstGeom prst="roundRect">
          <a:avLst>
            <a:gd name="adj" fmla="val 10000"/>
          </a:avLst>
        </a:prstGeom>
        <a:solidFill>
          <a:schemeClr val="accent1">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t>1960s-70: AI Winter due to the limitation of early models.</a:t>
          </a:r>
          <a:endParaRPr lang="en-IN" sz="1600" kern="1200" dirty="0"/>
        </a:p>
      </dsp:txBody>
      <dsp:txXfrm>
        <a:off x="5147217" y="409233"/>
        <a:ext cx="1715628" cy="1111098"/>
      </dsp:txXfrm>
    </dsp:sp>
    <dsp:sp modelId="{D0CF1CCE-F52C-43B3-88E4-3E607140BB61}">
      <dsp:nvSpPr>
        <dsp:cNvPr id="0" name=""/>
        <dsp:cNvSpPr/>
      </dsp:nvSpPr>
      <dsp:spPr>
        <a:xfrm>
          <a:off x="4801591" y="2380437"/>
          <a:ext cx="2442122" cy="1015875"/>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t>1986: </a:t>
          </a:r>
          <a:r>
            <a:rPr lang="en-US" sz="1600" kern="1200" dirty="0" err="1"/>
            <a:t>Inroduction</a:t>
          </a:r>
          <a:r>
            <a:rPr lang="en-US" sz="1600" kern="1200" dirty="0"/>
            <a:t> to </a:t>
          </a:r>
          <a:r>
            <a:rPr lang="en-US" sz="1600" b="1" kern="1200" dirty="0" err="1"/>
            <a:t>Backproagation</a:t>
          </a:r>
          <a:r>
            <a:rPr lang="en-US" sz="1600" kern="1200" dirty="0"/>
            <a:t> by </a:t>
          </a:r>
          <a:r>
            <a:rPr lang="en-US" sz="1600" kern="1200" dirty="0" err="1"/>
            <a:t>Rumelhalt</a:t>
          </a:r>
          <a:r>
            <a:rPr lang="en-US" sz="1600" kern="1200" dirty="0"/>
            <a:t>, Hinton, and Williams.</a:t>
          </a:r>
          <a:endParaRPr lang="en-IN" sz="1600" kern="1200" dirty="0"/>
        </a:p>
      </dsp:txBody>
      <dsp:txXfrm>
        <a:off x="4831345" y="2410191"/>
        <a:ext cx="2382614" cy="9563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5D1BFC-012A-4226-B1DA-7A2E2A2EB619}">
      <dsp:nvSpPr>
        <dsp:cNvPr id="0" name=""/>
        <dsp:cNvSpPr/>
      </dsp:nvSpPr>
      <dsp:spPr>
        <a:xfrm rot="16200000">
          <a:off x="59316" y="-58375"/>
          <a:ext cx="2330340" cy="2447090"/>
        </a:xfrm>
        <a:prstGeom prst="flowChartManualOperation">
          <a:avLst/>
        </a:prstGeom>
        <a:solidFill>
          <a:schemeClr val="accent1">
            <a:shade val="80000"/>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0" tIns="0" rIns="94446" bIns="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altLang="en-US" sz="1500" b="1" i="0" u="none" strike="noStrike" kern="1200" cap="none" normalizeH="0" baseline="0" dirty="0">
              <a:ln/>
              <a:effectLst/>
              <a:latin typeface="Arial" panose="020B0604020202020204" pitchFamily="34" charset="0"/>
            </a:rPr>
            <a:t>Data Requirements:</a:t>
          </a:r>
          <a:r>
            <a:rPr kumimoji="0" lang="en-US" altLang="en-US" sz="1500" b="0" i="0" u="none" strike="noStrike" kern="1200" cap="none" normalizeH="0" baseline="0" dirty="0">
              <a:ln/>
              <a:effectLst/>
              <a:latin typeface="Arial" panose="020B0604020202020204" pitchFamily="34" charset="0"/>
            </a:rPr>
            <a:t> Neural networks require large amounts of labeled data to perform well, which can be hard to obtain in some fields.</a:t>
          </a:r>
          <a:endParaRPr lang="en-IN" sz="1500" kern="1200" dirty="0"/>
        </a:p>
      </dsp:txBody>
      <dsp:txXfrm rot="5400000">
        <a:off x="941" y="466068"/>
        <a:ext cx="2447090" cy="1398204"/>
      </dsp:txXfrm>
    </dsp:sp>
    <dsp:sp modelId="{32481D18-AB60-42EF-98DB-BA3007B83646}">
      <dsp:nvSpPr>
        <dsp:cNvPr id="0" name=""/>
        <dsp:cNvSpPr/>
      </dsp:nvSpPr>
      <dsp:spPr>
        <a:xfrm rot="16200000">
          <a:off x="2689938" y="-58375"/>
          <a:ext cx="2330340" cy="2447090"/>
        </a:xfrm>
        <a:prstGeom prst="flowChartManualOperation">
          <a:avLst/>
        </a:prstGeom>
        <a:solidFill>
          <a:schemeClr val="accent1">
            <a:shade val="80000"/>
            <a:hueOff val="349151"/>
            <a:satOff val="-23781"/>
            <a:lumOff val="17588"/>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0" tIns="0" rIns="94446" bIns="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altLang="en-US" sz="1500" b="1" i="0" u="none" strike="noStrike" kern="1200" cap="none" normalizeH="0" baseline="0" dirty="0">
              <a:ln/>
              <a:effectLst/>
              <a:latin typeface="Arial" panose="020B0604020202020204" pitchFamily="34" charset="0"/>
            </a:rPr>
            <a:t>Computational Power:</a:t>
          </a:r>
          <a:r>
            <a:rPr kumimoji="0" lang="en-US" altLang="en-US" sz="1500" b="0" i="0" u="none" strike="noStrike" kern="1200" cap="none" normalizeH="0" baseline="0" dirty="0">
              <a:ln/>
              <a:effectLst/>
              <a:latin typeface="Arial" panose="020B0604020202020204" pitchFamily="34" charset="0"/>
            </a:rPr>
            <a:t> Training deep neural networks demands significant computational resources, often requiring GPUs or specialized hardware.</a:t>
          </a:r>
          <a:endParaRPr lang="en-IN" sz="1500" kern="1200" dirty="0"/>
        </a:p>
      </dsp:txBody>
      <dsp:txXfrm rot="5400000">
        <a:off x="2631563" y="466068"/>
        <a:ext cx="2447090" cy="1398204"/>
      </dsp:txXfrm>
    </dsp:sp>
    <dsp:sp modelId="{B713A76E-27E7-4EA0-84E3-5DAAEDCDF369}">
      <dsp:nvSpPr>
        <dsp:cNvPr id="0" name=""/>
        <dsp:cNvSpPr/>
      </dsp:nvSpPr>
      <dsp:spPr>
        <a:xfrm rot="16200000">
          <a:off x="5320561" y="-58375"/>
          <a:ext cx="2330340" cy="2447090"/>
        </a:xfrm>
        <a:prstGeom prst="flowChartManualOperation">
          <a:avLst/>
        </a:prstGeom>
        <a:solidFill>
          <a:schemeClr val="accent1">
            <a:shade val="80000"/>
            <a:hueOff val="698302"/>
            <a:satOff val="-47562"/>
            <a:lumOff val="35175"/>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0" tIns="0" rIns="94446" bIns="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altLang="en-US" sz="1500" b="1" i="0" u="none" strike="noStrike" kern="1200" cap="none" normalizeH="0" baseline="0" dirty="0">
              <a:ln/>
              <a:effectLst/>
              <a:latin typeface="Arial" panose="020B0604020202020204" pitchFamily="34" charset="0"/>
            </a:rPr>
            <a:t>Overfitting:</a:t>
          </a:r>
          <a:r>
            <a:rPr kumimoji="0" lang="en-US" altLang="en-US" sz="1500" b="0" i="0" u="none" strike="noStrike" kern="1200" cap="none" normalizeH="0" baseline="0" dirty="0">
              <a:ln/>
              <a:effectLst/>
              <a:latin typeface="Arial" panose="020B0604020202020204" pitchFamily="34" charset="0"/>
            </a:rPr>
            <a:t> Neural networks can memorize data instead of learning general patterns, leading to poor performance on new, unseen data.</a:t>
          </a:r>
          <a:endParaRPr lang="en-IN" sz="1500" kern="1200" dirty="0"/>
        </a:p>
      </dsp:txBody>
      <dsp:txXfrm rot="5400000">
        <a:off x="5262186" y="466068"/>
        <a:ext cx="2447090" cy="13982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07732-2849-438A-A5F2-7BA9FBFC3EDA}">
      <dsp:nvSpPr>
        <dsp:cNvPr id="0" name=""/>
        <dsp:cNvSpPr/>
      </dsp:nvSpPr>
      <dsp:spPr>
        <a:xfrm rot="16200000">
          <a:off x="59317" y="-58375"/>
          <a:ext cx="2330339" cy="2447090"/>
        </a:xfrm>
        <a:prstGeom prst="flowChartManualOperation">
          <a:avLst/>
        </a:prstGeom>
        <a:solidFill>
          <a:schemeClr val="accent1">
            <a:shade val="80000"/>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0" tIns="0" rIns="97234" bIns="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altLang="en-US" sz="1500" b="1" i="0" u="none" strike="noStrike" kern="1200" cap="none" normalizeH="0" baseline="0" dirty="0">
              <a:ln/>
              <a:effectLst/>
              <a:latin typeface="Arial" panose="020B0604020202020204" pitchFamily="34" charset="0"/>
            </a:rPr>
            <a:t>Interpretability:</a:t>
          </a:r>
          <a:r>
            <a:rPr kumimoji="0" lang="en-US" altLang="en-US" sz="1500" b="0" i="0" u="none" strike="noStrike" kern="1200" cap="none" normalizeH="0" baseline="0" dirty="0">
              <a:ln/>
              <a:effectLst/>
              <a:latin typeface="Arial" panose="020B0604020202020204" pitchFamily="34" charset="0"/>
            </a:rPr>
            <a:t> Neural networks are often considered "black boxes," meaning their decision-making process is hard to understand, especially in complex models.</a:t>
          </a:r>
          <a:endParaRPr lang="en-IN" sz="1500" kern="1200" dirty="0"/>
        </a:p>
      </dsp:txBody>
      <dsp:txXfrm rot="5400000">
        <a:off x="942" y="466068"/>
        <a:ext cx="2447090" cy="1398203"/>
      </dsp:txXfrm>
    </dsp:sp>
    <dsp:sp modelId="{F523EF2F-FAD3-4211-A90A-A8AEF5F6D2DC}">
      <dsp:nvSpPr>
        <dsp:cNvPr id="0" name=""/>
        <dsp:cNvSpPr/>
      </dsp:nvSpPr>
      <dsp:spPr>
        <a:xfrm rot="16200000">
          <a:off x="2689939" y="-58375"/>
          <a:ext cx="2330339" cy="2447090"/>
        </a:xfrm>
        <a:prstGeom prst="flowChartManualOperation">
          <a:avLst/>
        </a:prstGeom>
        <a:solidFill>
          <a:schemeClr val="accent1">
            <a:shade val="80000"/>
            <a:hueOff val="349151"/>
            <a:satOff val="-23781"/>
            <a:lumOff val="17588"/>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0" tIns="0" rIns="97234" bIns="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altLang="en-US" sz="1500" b="1" i="0" u="none" strike="noStrike" kern="1200" cap="none" normalizeH="0" baseline="0">
              <a:ln/>
              <a:effectLst/>
              <a:latin typeface="Arial" panose="020B0604020202020204" pitchFamily="34" charset="0"/>
            </a:rPr>
            <a:t>Training Time:</a:t>
          </a:r>
          <a:r>
            <a:rPr kumimoji="0" lang="en-US" altLang="en-US" sz="1500" b="0" i="0" u="none" strike="noStrike" kern="1200" cap="none" normalizeH="0" baseline="0">
              <a:ln/>
              <a:effectLst/>
              <a:latin typeface="Arial" panose="020B0604020202020204" pitchFamily="34" charset="0"/>
            </a:rPr>
            <a:t> Training deep networks can take a long time, especially for large datasets, and fine-tuning parameters requires trial and error.</a:t>
          </a:r>
          <a:endParaRPr lang="en-IN" sz="1500" kern="1200" dirty="0"/>
        </a:p>
      </dsp:txBody>
      <dsp:txXfrm rot="5400000">
        <a:off x="2631564" y="466068"/>
        <a:ext cx="2447090" cy="1398203"/>
      </dsp:txXfrm>
    </dsp:sp>
    <dsp:sp modelId="{FEF5DE2D-9EA4-420F-8E44-775B7F0D8279}">
      <dsp:nvSpPr>
        <dsp:cNvPr id="0" name=""/>
        <dsp:cNvSpPr/>
      </dsp:nvSpPr>
      <dsp:spPr>
        <a:xfrm rot="16200000">
          <a:off x="5320561" y="-58375"/>
          <a:ext cx="2330339" cy="2447090"/>
        </a:xfrm>
        <a:prstGeom prst="flowChartManualOperation">
          <a:avLst/>
        </a:prstGeom>
        <a:solidFill>
          <a:schemeClr val="accent1">
            <a:shade val="80000"/>
            <a:hueOff val="698302"/>
            <a:satOff val="-47562"/>
            <a:lumOff val="35175"/>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0" tIns="0" rIns="97234" bIns="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altLang="en-US" sz="1500" b="1" i="0" u="none" strike="noStrike" kern="1200" cap="none" normalizeH="0" baseline="0">
              <a:ln/>
              <a:effectLst/>
              <a:latin typeface="Arial" panose="020B0604020202020204" pitchFamily="34" charset="0"/>
            </a:rPr>
            <a:t>Hyperparameter Tuning:</a:t>
          </a:r>
          <a:r>
            <a:rPr kumimoji="0" lang="en-US" altLang="en-US" sz="1500" b="0" i="0" u="none" strike="noStrike" kern="1200" cap="none" normalizeH="0" baseline="0">
              <a:ln/>
              <a:effectLst/>
              <a:latin typeface="Arial" panose="020B0604020202020204" pitchFamily="34" charset="0"/>
            </a:rPr>
            <a:t> Selecting the right architecture, learning rate, and other hyperparameters is often challenging and time-consuming.</a:t>
          </a:r>
          <a:endParaRPr lang="en-IN" sz="1500" kern="1200" dirty="0"/>
        </a:p>
      </dsp:txBody>
      <dsp:txXfrm rot="5400000">
        <a:off x="5262186" y="466068"/>
        <a:ext cx="2447090" cy="13982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307E0-9E1A-4A37-8152-29431D6342CF}">
      <dsp:nvSpPr>
        <dsp:cNvPr id="0" name=""/>
        <dsp:cNvSpPr/>
      </dsp:nvSpPr>
      <dsp:spPr>
        <a:xfrm rot="5400000">
          <a:off x="-222646" y="223826"/>
          <a:ext cx="1484312" cy="1039018"/>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endParaRPr lang="en-IN" sz="2900" kern="1200" dirty="0"/>
        </a:p>
      </dsp:txBody>
      <dsp:txXfrm rot="-5400000">
        <a:off x="1" y="520688"/>
        <a:ext cx="1039018" cy="445294"/>
      </dsp:txXfrm>
    </dsp:sp>
    <dsp:sp modelId="{DA46C944-26BF-434C-A5B0-00CC9A7C6926}">
      <dsp:nvSpPr>
        <dsp:cNvPr id="0" name=""/>
        <dsp:cNvSpPr/>
      </dsp:nvSpPr>
      <dsp:spPr>
        <a:xfrm rot="5400000">
          <a:off x="4029987" y="-2989789"/>
          <a:ext cx="964803" cy="6946741"/>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IN" sz="2700" b="0" kern="1200" dirty="0"/>
            <a:t>Object Detection</a:t>
          </a:r>
        </a:p>
        <a:p>
          <a:pPr marL="228600" lvl="1" indent="-228600" algn="l" defTabSz="1200150">
            <a:lnSpc>
              <a:spcPct val="90000"/>
            </a:lnSpc>
            <a:spcBef>
              <a:spcPct val="0"/>
            </a:spcBef>
            <a:spcAft>
              <a:spcPct val="15000"/>
            </a:spcAft>
            <a:buChar char="•"/>
          </a:pPr>
          <a:r>
            <a:rPr lang="en-IN" sz="2700" b="0" kern="1200" dirty="0"/>
            <a:t>Face Recognition</a:t>
          </a:r>
        </a:p>
      </dsp:txBody>
      <dsp:txXfrm rot="-5400000">
        <a:off x="1039018" y="48278"/>
        <a:ext cx="6899643" cy="870607"/>
      </dsp:txXfrm>
    </dsp:sp>
    <dsp:sp modelId="{412996E6-9B66-4CBE-A1BE-B21FD999795C}">
      <dsp:nvSpPr>
        <dsp:cNvPr id="0" name=""/>
        <dsp:cNvSpPr/>
      </dsp:nvSpPr>
      <dsp:spPr>
        <a:xfrm rot="5400000">
          <a:off x="-222646" y="1512490"/>
          <a:ext cx="1484312" cy="1039018"/>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endParaRPr lang="en-IN" sz="2900" kern="1200" dirty="0"/>
        </a:p>
      </dsp:txBody>
      <dsp:txXfrm rot="-5400000">
        <a:off x="1" y="1809352"/>
        <a:ext cx="1039018" cy="445294"/>
      </dsp:txXfrm>
    </dsp:sp>
    <dsp:sp modelId="{07178E5B-4F31-4F92-9504-4E6B0644AFF4}">
      <dsp:nvSpPr>
        <dsp:cNvPr id="0" name=""/>
        <dsp:cNvSpPr/>
      </dsp:nvSpPr>
      <dsp:spPr>
        <a:xfrm rot="5400000">
          <a:off x="4029987" y="-1701125"/>
          <a:ext cx="964803" cy="6946741"/>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kern="1200" dirty="0"/>
            <a:t>Sentimental Analysis</a:t>
          </a:r>
          <a:endParaRPr lang="en-IN" sz="2700" kern="1200" dirty="0"/>
        </a:p>
        <a:p>
          <a:pPr marL="228600" lvl="1" indent="-228600" algn="l" defTabSz="1200150">
            <a:lnSpc>
              <a:spcPct val="90000"/>
            </a:lnSpc>
            <a:spcBef>
              <a:spcPct val="0"/>
            </a:spcBef>
            <a:spcAft>
              <a:spcPct val="15000"/>
            </a:spcAft>
            <a:buChar char="•"/>
          </a:pPr>
          <a:r>
            <a:rPr lang="en-US" sz="2700" kern="1200" dirty="0"/>
            <a:t>Drones and UAVs</a:t>
          </a:r>
          <a:endParaRPr lang="en-IN" sz="2700" kern="1200" dirty="0"/>
        </a:p>
      </dsp:txBody>
      <dsp:txXfrm rot="-5400000">
        <a:off x="1039018" y="1336942"/>
        <a:ext cx="6899643" cy="870607"/>
      </dsp:txXfrm>
    </dsp:sp>
    <dsp:sp modelId="{2BF3B0EE-BF25-4EA7-9DC1-35F800159537}">
      <dsp:nvSpPr>
        <dsp:cNvPr id="0" name=""/>
        <dsp:cNvSpPr/>
      </dsp:nvSpPr>
      <dsp:spPr>
        <a:xfrm rot="5400000">
          <a:off x="-222646" y="2801154"/>
          <a:ext cx="1484312" cy="1039018"/>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endParaRPr lang="en-IN" sz="2900" kern="1200" dirty="0"/>
        </a:p>
      </dsp:txBody>
      <dsp:txXfrm rot="-5400000">
        <a:off x="1" y="3098016"/>
        <a:ext cx="1039018" cy="445294"/>
      </dsp:txXfrm>
    </dsp:sp>
    <dsp:sp modelId="{014F75D6-056D-4034-A8BC-6A7277347922}">
      <dsp:nvSpPr>
        <dsp:cNvPr id="0" name=""/>
        <dsp:cNvSpPr/>
      </dsp:nvSpPr>
      <dsp:spPr>
        <a:xfrm rot="5400000">
          <a:off x="4029987" y="-412461"/>
          <a:ext cx="964803" cy="6946741"/>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US" sz="2700" kern="1200" dirty="0"/>
            <a:t>Handwriting Recognition</a:t>
          </a:r>
          <a:endParaRPr lang="en-IN" sz="2700" kern="1200" dirty="0"/>
        </a:p>
        <a:p>
          <a:pPr marL="228600" lvl="1" indent="-228600" algn="l" defTabSz="1200150">
            <a:lnSpc>
              <a:spcPct val="90000"/>
            </a:lnSpc>
            <a:spcBef>
              <a:spcPct val="0"/>
            </a:spcBef>
            <a:spcAft>
              <a:spcPct val="15000"/>
            </a:spcAft>
            <a:buChar char="•"/>
          </a:pPr>
          <a:r>
            <a:rPr lang="en-US" sz="2700" kern="1200" dirty="0"/>
            <a:t>Medical Imaging and Diagnostics</a:t>
          </a:r>
          <a:endParaRPr lang="en-IN" sz="2700" kern="1200" dirty="0"/>
        </a:p>
      </dsp:txBody>
      <dsp:txXfrm rot="-5400000">
        <a:off x="1039018" y="2625606"/>
        <a:ext cx="6899643" cy="870607"/>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5B7948-3191-478F-9800-DD2B62F17313}" type="datetimeFigureOut">
              <a:rPr lang="en-IN" smtClean="0"/>
              <a:t>19-02-2025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B51D6A-5EDF-44D5-A3A3-D5F27108EE00}" type="slidenum">
              <a:rPr lang="en-IN" smtClean="0"/>
              <a:t>‹#›</a:t>
            </a:fld>
            <a:endParaRPr lang="en-IN"/>
          </a:p>
        </p:txBody>
      </p:sp>
    </p:spTree>
    <p:extLst>
      <p:ext uri="{BB962C8B-B14F-4D97-AF65-F5344CB8AC3E}">
        <p14:creationId xmlns:p14="http://schemas.microsoft.com/office/powerpoint/2010/main" val="2506579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B51D6A-5EDF-44D5-A3A3-D5F27108EE00}" type="slidenum">
              <a:rPr lang="en-IN" smtClean="0"/>
              <a:t>1</a:t>
            </a:fld>
            <a:endParaRPr lang="en-IN"/>
          </a:p>
        </p:txBody>
      </p:sp>
    </p:spTree>
    <p:extLst>
      <p:ext uri="{BB962C8B-B14F-4D97-AF65-F5344CB8AC3E}">
        <p14:creationId xmlns:p14="http://schemas.microsoft.com/office/powerpoint/2010/main" val="2919569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B51D6A-5EDF-44D5-A3A3-D5F27108EE00}" type="slidenum">
              <a:rPr lang="en-IN" smtClean="0"/>
              <a:t>3</a:t>
            </a:fld>
            <a:endParaRPr lang="en-IN"/>
          </a:p>
        </p:txBody>
      </p:sp>
    </p:spTree>
    <p:extLst>
      <p:ext uri="{BB962C8B-B14F-4D97-AF65-F5344CB8AC3E}">
        <p14:creationId xmlns:p14="http://schemas.microsoft.com/office/powerpoint/2010/main" val="4232913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B51D6A-5EDF-44D5-A3A3-D5F27108EE00}" type="slidenum">
              <a:rPr lang="en-IN" smtClean="0"/>
              <a:t>11</a:t>
            </a:fld>
            <a:endParaRPr lang="en-IN"/>
          </a:p>
        </p:txBody>
      </p:sp>
    </p:spTree>
    <p:extLst>
      <p:ext uri="{BB962C8B-B14F-4D97-AF65-F5344CB8AC3E}">
        <p14:creationId xmlns:p14="http://schemas.microsoft.com/office/powerpoint/2010/main" val="3063649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13001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223324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63387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256372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674975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31859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283145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29462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29995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3415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2818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8337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360631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75250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01475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2954351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2/19/2025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69550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2/19/2025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07982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0130" y="693173"/>
            <a:ext cx="7411120" cy="1121975"/>
          </a:xfrm>
        </p:spPr>
        <p:txBody>
          <a:bodyPr/>
          <a:lstStyle/>
          <a:p>
            <a:r>
              <a:rPr sz="3200" b="1" dirty="0"/>
              <a:t>Neural Networks</a:t>
            </a:r>
            <a:r>
              <a:rPr lang="en-US" sz="3200" b="1" dirty="0"/>
              <a:t>: The Backbone of Artificial Intelligence</a:t>
            </a:r>
            <a:endParaRPr sz="3200" b="1" dirty="0"/>
          </a:p>
        </p:txBody>
      </p:sp>
      <p:sp>
        <p:nvSpPr>
          <p:cNvPr id="5" name="Subtitle 4">
            <a:extLst>
              <a:ext uri="{FF2B5EF4-FFF2-40B4-BE49-F238E27FC236}">
                <a16:creationId xmlns:a16="http://schemas.microsoft.com/office/drawing/2014/main" id="{7BBAF8D5-F806-2C26-8963-AB43A12F2AB3}"/>
              </a:ext>
            </a:extLst>
          </p:cNvPr>
          <p:cNvSpPr>
            <a:spLocks noGrp="1"/>
          </p:cNvSpPr>
          <p:nvPr>
            <p:ph type="subTitle" idx="1"/>
          </p:nvPr>
        </p:nvSpPr>
        <p:spPr>
          <a:xfrm>
            <a:off x="866440" y="4483511"/>
            <a:ext cx="5917679" cy="1317521"/>
          </a:xfrm>
        </p:spPr>
        <p:txBody>
          <a:bodyPr>
            <a:normAutofit/>
          </a:bodyPr>
          <a:lstStyle/>
          <a:p>
            <a:r>
              <a:rPr lang="en-US" dirty="0"/>
              <a:t>Presented To: Dr. Manish Mahajan</a:t>
            </a:r>
          </a:p>
          <a:p>
            <a:r>
              <a:rPr lang="en-US" dirty="0"/>
              <a:t>Presented By: Tarinee</a:t>
            </a:r>
          </a:p>
          <a:p>
            <a:r>
              <a:rPr lang="en-US" dirty="0"/>
              <a:t>Enrollment NO: A25305223169</a:t>
            </a:r>
            <a:endParaRPr lang="en-IN" dirty="0"/>
          </a:p>
        </p:txBody>
      </p:sp>
      <p:pic>
        <p:nvPicPr>
          <p:cNvPr id="19" name="Picture 18">
            <a:extLst>
              <a:ext uri="{FF2B5EF4-FFF2-40B4-BE49-F238E27FC236}">
                <a16:creationId xmlns:a16="http://schemas.microsoft.com/office/drawing/2014/main" id="{B076313C-2F4B-CCA2-549B-0CA9F0675168}"/>
              </a:ext>
            </a:extLst>
          </p:cNvPr>
          <p:cNvPicPr>
            <a:picLocks noChangeAspect="1"/>
          </p:cNvPicPr>
          <p:nvPr/>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artisticTexturizer/>
                    </a14:imgEffect>
                  </a14:imgLayer>
                </a14:imgProps>
              </a:ext>
            </a:extLst>
          </a:blip>
          <a:stretch>
            <a:fillRect/>
          </a:stretch>
        </p:blipFill>
        <p:spPr>
          <a:xfrm>
            <a:off x="6140154" y="3862981"/>
            <a:ext cx="2368589" cy="2295371"/>
          </a:xfrm>
          <a:prstGeom prst="rect">
            <a:avLst/>
          </a:prstGeom>
          <a:effectLst>
            <a:softEdge rad="127000"/>
          </a:effec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Neural Networks</a:t>
            </a:r>
          </a:p>
        </p:txBody>
      </p:sp>
      <p:sp>
        <p:nvSpPr>
          <p:cNvPr id="3" name="Content Placeholder 2"/>
          <p:cNvSpPr>
            <a:spLocks noGrp="1"/>
          </p:cNvSpPr>
          <p:nvPr>
            <p:ph idx="1"/>
          </p:nvPr>
        </p:nvSpPr>
        <p:spPr>
          <a:xfrm>
            <a:off x="864381" y="2489199"/>
            <a:ext cx="7237399" cy="4009923"/>
          </a:xfrm>
        </p:spPr>
        <p:txBody>
          <a:bodyPr>
            <a:normAutofit fontScale="92500" lnSpcReduction="10000"/>
          </a:bodyPr>
          <a:lstStyle/>
          <a:p>
            <a:r>
              <a:rPr lang="en-US" b="1" dirty="0"/>
              <a:t>What is Neural Networks?</a:t>
            </a:r>
          </a:p>
          <a:p>
            <a:pPr marL="402336" lvl="1" indent="0">
              <a:buNone/>
            </a:pPr>
            <a:r>
              <a:rPr lang="en-US" dirty="0"/>
              <a:t>Neural networks are a class of machine learning algorithms inspired by the structure and functioning of the human brain. They are designed to recognize patterns and make decisions based on data. At a basic level, a neural network consists of layers of nodes (also called neurons) that work together to process input data and produce an output.</a:t>
            </a:r>
          </a:p>
          <a:p>
            <a:pPr marL="345186" indent="-285750">
              <a:buFont typeface="Wingdings" panose="05000000000000000000" pitchFamily="2" charset="2"/>
              <a:buChar char="Ø"/>
            </a:pPr>
            <a:r>
              <a:rPr lang="en-US" b="1" dirty="0"/>
              <a:t>What is the key components of Neural Networks?</a:t>
            </a:r>
          </a:p>
          <a:p>
            <a:pPr marL="688086" lvl="1" indent="-285750">
              <a:buFont typeface="Arial" panose="020B0604020202020204" pitchFamily="34" charset="0"/>
              <a:buChar char="•"/>
            </a:pPr>
            <a:r>
              <a:rPr lang="en-US" dirty="0"/>
              <a:t>Neurons</a:t>
            </a:r>
          </a:p>
          <a:p>
            <a:pPr marL="688086" lvl="1" indent="-285750">
              <a:buFont typeface="Arial" panose="020B0604020202020204" pitchFamily="34" charset="0"/>
              <a:buChar char="•"/>
            </a:pPr>
            <a:r>
              <a:rPr lang="en-US" dirty="0"/>
              <a:t>Layers</a:t>
            </a:r>
          </a:p>
          <a:p>
            <a:pPr marL="688086" lvl="1" indent="-285750">
              <a:buFont typeface="Arial" panose="020B0604020202020204" pitchFamily="34" charset="0"/>
              <a:buChar char="•"/>
            </a:pPr>
            <a:r>
              <a:rPr lang="en-US" dirty="0"/>
              <a:t>Weighs and Biases</a:t>
            </a:r>
          </a:p>
          <a:p>
            <a:pPr marL="688086" lvl="1" indent="-285750">
              <a:buFont typeface="Arial" panose="020B0604020202020204" pitchFamily="34" charset="0"/>
              <a:buChar char="•"/>
            </a:pPr>
            <a:r>
              <a:rPr lang="en-US" dirty="0"/>
              <a:t>Activation Function</a:t>
            </a:r>
          </a:p>
          <a:p>
            <a:pPr marL="688086" lvl="1" indent="-285750">
              <a:buFont typeface="Arial" panose="020B0604020202020204" pitchFamily="34" charset="0"/>
              <a:buChar char="•"/>
            </a:pPr>
            <a:r>
              <a:rPr lang="en-US" dirty="0"/>
              <a:t>Learning Process </a:t>
            </a:r>
          </a:p>
          <a:p>
            <a:pPr marL="688086" lvl="1" indent="-285750">
              <a:buFont typeface="Arial" panose="020B0604020202020204" pitchFamily="34" charset="0"/>
              <a:buChar char="•"/>
            </a:pPr>
            <a:r>
              <a:rPr lang="en-US" dirty="0"/>
              <a:t>Training</a:t>
            </a:r>
          </a:p>
        </p:txBody>
      </p:sp>
      <p:pic>
        <p:nvPicPr>
          <p:cNvPr id="5" name="Picture 4">
            <a:extLst>
              <a:ext uri="{FF2B5EF4-FFF2-40B4-BE49-F238E27FC236}">
                <a16:creationId xmlns:a16="http://schemas.microsoft.com/office/drawing/2014/main" id="{C859199B-7E79-12AB-1A2C-35265D6052EB}"/>
              </a:ext>
            </a:extLst>
          </p:cNvPr>
          <p:cNvPicPr>
            <a:picLocks noChangeAspect="1"/>
          </p:cNvPicPr>
          <p:nvPr/>
        </p:nvPicPr>
        <p:blipFill>
          <a:blip r:embed="rId2"/>
          <a:srcRect t="4038" b="-1"/>
          <a:stretch/>
        </p:blipFill>
        <p:spPr>
          <a:xfrm>
            <a:off x="4658777" y="4483510"/>
            <a:ext cx="4027407" cy="186951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 of </a:t>
            </a:r>
            <a:r>
              <a:rPr dirty="0"/>
              <a:t>Neural Network</a:t>
            </a:r>
          </a:p>
        </p:txBody>
      </p:sp>
      <p:graphicFrame>
        <p:nvGraphicFramePr>
          <p:cNvPr id="4" name="Diagram 3">
            <a:extLst>
              <a:ext uri="{FF2B5EF4-FFF2-40B4-BE49-F238E27FC236}">
                <a16:creationId xmlns:a16="http://schemas.microsoft.com/office/drawing/2014/main" id="{09603553-F1C6-3563-5270-9AB29EDF808B}"/>
              </a:ext>
            </a:extLst>
          </p:cNvPr>
          <p:cNvGraphicFramePr/>
          <p:nvPr>
            <p:extLst>
              <p:ext uri="{D42A27DB-BD31-4B8C-83A1-F6EECF244321}">
                <p14:modId xmlns:p14="http://schemas.microsoft.com/office/powerpoint/2010/main" val="2900152162"/>
              </p:ext>
            </p:extLst>
          </p:nvPr>
        </p:nvGraphicFramePr>
        <p:xfrm>
          <a:off x="727587" y="2290917"/>
          <a:ext cx="7639665" cy="41098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Arrow: Curved Left 4">
            <a:extLst>
              <a:ext uri="{FF2B5EF4-FFF2-40B4-BE49-F238E27FC236}">
                <a16:creationId xmlns:a16="http://schemas.microsoft.com/office/drawing/2014/main" id="{38422B99-480A-2C9E-82B5-1433C3DF2305}"/>
              </a:ext>
            </a:extLst>
          </p:cNvPr>
          <p:cNvSpPr/>
          <p:nvPr/>
        </p:nvSpPr>
        <p:spPr>
          <a:xfrm>
            <a:off x="8190271" y="3264310"/>
            <a:ext cx="776748" cy="1799303"/>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Arrow: Left 5">
            <a:extLst>
              <a:ext uri="{FF2B5EF4-FFF2-40B4-BE49-F238E27FC236}">
                <a16:creationId xmlns:a16="http://schemas.microsoft.com/office/drawing/2014/main" id="{99FE6707-4058-E8F9-6521-7846F23F5CFB}"/>
              </a:ext>
            </a:extLst>
          </p:cNvPr>
          <p:cNvSpPr/>
          <p:nvPr/>
        </p:nvSpPr>
        <p:spPr>
          <a:xfrm>
            <a:off x="5230761" y="5142271"/>
            <a:ext cx="255639" cy="16714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Left 6">
            <a:extLst>
              <a:ext uri="{FF2B5EF4-FFF2-40B4-BE49-F238E27FC236}">
                <a16:creationId xmlns:a16="http://schemas.microsoft.com/office/drawing/2014/main" id="{47AEAF1C-A90E-9F1D-36DB-6A8E98D06827}"/>
              </a:ext>
            </a:extLst>
          </p:cNvPr>
          <p:cNvSpPr/>
          <p:nvPr/>
        </p:nvSpPr>
        <p:spPr>
          <a:xfrm>
            <a:off x="2775155" y="5127523"/>
            <a:ext cx="255639" cy="16714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Neural Networks Work</a:t>
            </a:r>
            <a:r>
              <a:rPr lang="en-US" dirty="0"/>
              <a:t>s?</a:t>
            </a:r>
            <a:endParaRPr dirty="0"/>
          </a:p>
        </p:txBody>
      </p:sp>
      <p:sp>
        <p:nvSpPr>
          <p:cNvPr id="4" name="Rectangle 1">
            <a:extLst>
              <a:ext uri="{FF2B5EF4-FFF2-40B4-BE49-F238E27FC236}">
                <a16:creationId xmlns:a16="http://schemas.microsoft.com/office/drawing/2014/main" id="{4F2F7A8C-F7F5-5B08-749C-6AE9ECBF5D40}"/>
              </a:ext>
            </a:extLst>
          </p:cNvPr>
          <p:cNvSpPr>
            <a:spLocks noGrp="1" noChangeArrowheads="1"/>
          </p:cNvSpPr>
          <p:nvPr>
            <p:ph idx="1"/>
          </p:nvPr>
        </p:nvSpPr>
        <p:spPr bwMode="auto">
          <a:xfrm>
            <a:off x="864382" y="2246259"/>
            <a:ext cx="7660186"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Input Layer:</a:t>
            </a:r>
            <a:r>
              <a:rPr kumimoji="0" lang="en-US" altLang="en-US" sz="1700" b="0" i="0" u="none" strike="noStrike" cap="none" normalizeH="0" baseline="0" dirty="0">
                <a:ln>
                  <a:noFill/>
                </a:ln>
                <a:solidFill>
                  <a:schemeClr val="tx1"/>
                </a:solidFill>
                <a:effectLst/>
                <a:latin typeface="Arial" panose="020B0604020202020204" pitchFamily="34" charset="0"/>
              </a:rPr>
              <a:t> The network receives the input data (e.g., image, text, or numerical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Weighted Sum:</a:t>
            </a:r>
            <a:r>
              <a:rPr kumimoji="0" lang="en-US" altLang="en-US" sz="1700" b="0" i="0" u="none" strike="noStrike" cap="none" normalizeH="0" baseline="0" dirty="0">
                <a:ln>
                  <a:noFill/>
                </a:ln>
                <a:solidFill>
                  <a:schemeClr val="tx1"/>
                </a:solidFill>
                <a:effectLst/>
                <a:latin typeface="Arial" panose="020B0604020202020204" pitchFamily="34" charset="0"/>
              </a:rPr>
              <a:t> Each input is multiplied by a weight and summed with a bias.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Activation:</a:t>
            </a:r>
            <a:r>
              <a:rPr kumimoji="0" lang="en-US" altLang="en-US" sz="1700" b="0" i="0" u="none" strike="noStrike" cap="none" normalizeH="0" baseline="0" dirty="0">
                <a:ln>
                  <a:noFill/>
                </a:ln>
                <a:solidFill>
                  <a:schemeClr val="tx1"/>
                </a:solidFill>
                <a:effectLst/>
                <a:latin typeface="Arial" panose="020B0604020202020204" pitchFamily="34" charset="0"/>
              </a:rPr>
              <a:t> The result is passed through an activation function to introduce non-linearity.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Hidden Layers:</a:t>
            </a:r>
            <a:r>
              <a:rPr kumimoji="0" lang="en-US" altLang="en-US" sz="1700" b="0" i="0" u="none" strike="noStrike" cap="none" normalizeH="0" baseline="0" dirty="0">
                <a:ln>
                  <a:noFill/>
                </a:ln>
                <a:solidFill>
                  <a:schemeClr val="tx1"/>
                </a:solidFill>
                <a:effectLst/>
                <a:latin typeface="Arial" panose="020B0604020202020204" pitchFamily="34" charset="0"/>
              </a:rPr>
              <a:t> Data is processed in hidden layers to capture complex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Output Layer:</a:t>
            </a:r>
            <a:r>
              <a:rPr kumimoji="0" lang="en-US" altLang="en-US" sz="1700" b="0" i="0" u="none" strike="noStrike" cap="none" normalizeH="0" baseline="0" dirty="0">
                <a:ln>
                  <a:noFill/>
                </a:ln>
                <a:solidFill>
                  <a:schemeClr val="tx1"/>
                </a:solidFill>
                <a:effectLst/>
                <a:latin typeface="Arial" panose="020B0604020202020204" pitchFamily="34" charset="0"/>
              </a:rPr>
              <a:t> The network produces its prediction or classification result.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Loss Calculation:</a:t>
            </a:r>
            <a:r>
              <a:rPr kumimoji="0" lang="en-US" altLang="en-US" sz="1700" b="0" i="0" u="none" strike="noStrike" cap="none" normalizeH="0" baseline="0" dirty="0">
                <a:ln>
                  <a:noFill/>
                </a:ln>
                <a:solidFill>
                  <a:schemeClr val="tx1"/>
                </a:solidFill>
                <a:effectLst/>
                <a:latin typeface="Arial" panose="020B0604020202020204" pitchFamily="34" charset="0"/>
              </a:rPr>
              <a:t> The prediction is compared to the true output, and the error is calculated.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Backpropagation:</a:t>
            </a:r>
            <a:r>
              <a:rPr kumimoji="0" lang="en-US" altLang="en-US" sz="1700" b="0" i="0" u="none" strike="noStrike" cap="none" normalizeH="0" baseline="0" dirty="0">
                <a:ln>
                  <a:noFill/>
                </a:ln>
                <a:solidFill>
                  <a:schemeClr val="tx1"/>
                </a:solidFill>
                <a:effectLst/>
                <a:latin typeface="Arial" panose="020B0604020202020204" pitchFamily="34" charset="0"/>
              </a:rPr>
              <a:t> The error is propagated back through the network to adjust weights and biases.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Optimization:</a:t>
            </a:r>
            <a:r>
              <a:rPr kumimoji="0" lang="en-US" altLang="en-US" sz="1700" b="0" i="0" u="none" strike="noStrike" cap="none" normalizeH="0" baseline="0" dirty="0">
                <a:ln>
                  <a:noFill/>
                </a:ln>
                <a:solidFill>
                  <a:schemeClr val="tx1"/>
                </a:solidFill>
                <a:effectLst/>
                <a:latin typeface="Arial" panose="020B0604020202020204" pitchFamily="34" charset="0"/>
              </a:rPr>
              <a:t> The network updates its parameters to minimize the loss using techniques like Gradient Descent. </a:t>
            </a: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Types of Neural Networks</a:t>
            </a:r>
          </a:p>
        </p:txBody>
      </p:sp>
      <p:sp>
        <p:nvSpPr>
          <p:cNvPr id="3" name="Content Placeholder 2"/>
          <p:cNvSpPr>
            <a:spLocks noGrp="1"/>
          </p:cNvSpPr>
          <p:nvPr>
            <p:ph idx="1"/>
          </p:nvPr>
        </p:nvSpPr>
        <p:spPr>
          <a:xfrm>
            <a:off x="864382" y="2489200"/>
            <a:ext cx="7502870" cy="3921432"/>
          </a:xfrm>
        </p:spPr>
        <p:txBody>
          <a:bodyPr>
            <a:normAutofit lnSpcReduction="10000"/>
          </a:bodyPr>
          <a:lstStyle/>
          <a:p>
            <a:r>
              <a:rPr lang="en-US" b="1" dirty="0"/>
              <a:t>Feedforward Neural Networks (FNNs):</a:t>
            </a:r>
          </a:p>
          <a:p>
            <a:pPr marL="342900" lvl="1" indent="0">
              <a:buNone/>
            </a:pPr>
            <a:r>
              <a:rPr lang="en-US" b="1" dirty="0"/>
              <a:t>Description:</a:t>
            </a:r>
            <a:r>
              <a:rPr lang="en-US" dirty="0"/>
              <a:t> The most basic type of neural network where data flows in one direction—from the input layer, through hidden layers, and to the output layer. There are no loops or cycles.</a:t>
            </a:r>
          </a:p>
          <a:p>
            <a:pPr marL="342900" lvl="1" indent="0">
              <a:buNone/>
            </a:pPr>
            <a:r>
              <a:rPr lang="en-US" b="1" dirty="0"/>
              <a:t>Example:</a:t>
            </a:r>
            <a:r>
              <a:rPr lang="en-US" dirty="0"/>
              <a:t> A </a:t>
            </a:r>
            <a:r>
              <a:rPr lang="en-US" b="1" dirty="0"/>
              <a:t>binary classification</a:t>
            </a:r>
            <a:r>
              <a:rPr lang="en-US" dirty="0"/>
              <a:t> task, such as predicting whether an email is spam or not, using features like the presence of certain words in the email.</a:t>
            </a:r>
          </a:p>
          <a:p>
            <a:r>
              <a:rPr lang="en-US" b="1" dirty="0"/>
              <a:t>Convolutional Neural Networks (CNNs):</a:t>
            </a:r>
          </a:p>
          <a:p>
            <a:pPr marL="342900" lvl="1" indent="0">
              <a:buNone/>
            </a:pPr>
            <a:r>
              <a:rPr lang="en-US" b="1" dirty="0"/>
              <a:t>Description:</a:t>
            </a:r>
            <a:r>
              <a:rPr lang="en-US" dirty="0"/>
              <a:t> A specialized type of neural network designed for processing structured grid-like data, such as images. CNNs use convolutional layers to automatically detect patterns like edges, textures, and objects.</a:t>
            </a:r>
          </a:p>
          <a:p>
            <a:pPr marL="342900" lvl="1" indent="0">
              <a:buNone/>
            </a:pPr>
            <a:r>
              <a:rPr lang="en-US" b="1" dirty="0"/>
              <a:t>Example:</a:t>
            </a:r>
            <a:r>
              <a:rPr lang="en-US" dirty="0"/>
              <a:t> </a:t>
            </a:r>
            <a:r>
              <a:rPr lang="en-US" b="1" dirty="0"/>
              <a:t>Image classification</a:t>
            </a:r>
            <a:r>
              <a:rPr lang="en-US" dirty="0"/>
              <a:t>, such as identifying objects in images (e.g., detecting whether a picture contains a cat or dog).</a:t>
            </a:r>
          </a:p>
          <a:p>
            <a:pPr marL="342900" lvl="1" indent="0">
              <a:buNone/>
            </a:pPr>
            <a:endParaRPr lang="en-US" dirty="0"/>
          </a:p>
          <a:p>
            <a:pPr>
              <a:buFont typeface="Wingdings" panose="05000000000000000000" pitchFamily="2" charset="2"/>
              <a:buChar char="Ø"/>
            </a:pPr>
            <a:endParaRPr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6DF748-F74B-A819-C614-7B131A7EE59E}"/>
              </a:ext>
            </a:extLst>
          </p:cNvPr>
          <p:cNvSpPr>
            <a:spLocks noGrp="1"/>
          </p:cNvSpPr>
          <p:nvPr>
            <p:ph idx="1"/>
          </p:nvPr>
        </p:nvSpPr>
        <p:spPr>
          <a:xfrm>
            <a:off x="864382" y="2418735"/>
            <a:ext cx="7611024" cy="3913239"/>
          </a:xfrm>
        </p:spPr>
        <p:txBody>
          <a:bodyPr>
            <a:normAutofit fontScale="92500" lnSpcReduction="10000"/>
          </a:bodyPr>
          <a:lstStyle/>
          <a:p>
            <a:r>
              <a:rPr lang="en-US" b="1" dirty="0"/>
              <a:t>Recurrent Neural Networks (RNNs):</a:t>
            </a:r>
          </a:p>
          <a:p>
            <a:pPr marL="402336" lvl="1" indent="0">
              <a:buNone/>
            </a:pPr>
            <a:r>
              <a:rPr lang="en-US" b="1" dirty="0"/>
              <a:t>Description:</a:t>
            </a:r>
            <a:r>
              <a:rPr lang="en-US" dirty="0"/>
              <a:t> Neural networks designed for sequential data or time-series data. RNNs have loops, allowing information to persist over time and be used for prediction tasks where context matters (i.e., the current output depends on previous inputs).</a:t>
            </a:r>
          </a:p>
          <a:p>
            <a:pPr marL="402336" lvl="1" indent="0">
              <a:buNone/>
            </a:pPr>
            <a:r>
              <a:rPr lang="en-US" b="1" dirty="0"/>
              <a:t>Example:</a:t>
            </a:r>
            <a:r>
              <a:rPr lang="en-US" dirty="0"/>
              <a:t> </a:t>
            </a:r>
            <a:r>
              <a:rPr lang="en-US" b="1" dirty="0"/>
              <a:t>Speech recognition</a:t>
            </a:r>
            <a:r>
              <a:rPr lang="en-US" dirty="0"/>
              <a:t> (transcribing spoken words into text) or </a:t>
            </a:r>
            <a:r>
              <a:rPr lang="en-US" b="1" dirty="0"/>
              <a:t>predicting stock prices</a:t>
            </a:r>
            <a:r>
              <a:rPr lang="en-US" dirty="0"/>
              <a:t> where the model needs to understand the sequence of past events to make future predictions.</a:t>
            </a:r>
          </a:p>
          <a:p>
            <a:r>
              <a:rPr lang="en-US" b="1" dirty="0"/>
              <a:t>Generative Adversarial Networks (GANs):</a:t>
            </a:r>
          </a:p>
          <a:p>
            <a:pPr marL="342900" lvl="1" indent="0">
              <a:buNone/>
            </a:pPr>
            <a:r>
              <a:rPr lang="en-US" b="1" dirty="0"/>
              <a:t>Description:</a:t>
            </a:r>
            <a:r>
              <a:rPr lang="en-US" dirty="0"/>
              <a:t> GANs consist of two neural networks—a </a:t>
            </a:r>
            <a:r>
              <a:rPr lang="en-US" b="1" dirty="0"/>
              <a:t>Generator</a:t>
            </a:r>
            <a:r>
              <a:rPr lang="en-US" dirty="0"/>
              <a:t> and a </a:t>
            </a:r>
            <a:r>
              <a:rPr lang="en-US" b="1" dirty="0"/>
              <a:t>Discriminator</a:t>
            </a:r>
            <a:r>
              <a:rPr lang="en-US" dirty="0"/>
              <a:t>—that are trained together. The generator creates fake data, while the discriminator evaluates whether the data is real or fake. They "compete" with each other to improve their performance.</a:t>
            </a:r>
          </a:p>
          <a:p>
            <a:pPr marL="342900" lvl="1" indent="0">
              <a:buNone/>
            </a:pPr>
            <a:r>
              <a:rPr lang="en-US" b="1" dirty="0"/>
              <a:t>Example:</a:t>
            </a:r>
            <a:r>
              <a:rPr lang="en-US" dirty="0"/>
              <a:t> </a:t>
            </a:r>
            <a:r>
              <a:rPr lang="en-US" b="1" dirty="0"/>
              <a:t>Image generation</a:t>
            </a:r>
            <a:r>
              <a:rPr lang="en-US" dirty="0"/>
              <a:t>, where GANs can create realistic images, such as generating fake faces or artwork, or generating realistic deepfake videos.</a:t>
            </a:r>
          </a:p>
          <a:p>
            <a:pPr marL="342900" lvl="1" indent="0">
              <a:buNone/>
            </a:pPr>
            <a:endParaRPr lang="en-IN" dirty="0"/>
          </a:p>
          <a:p>
            <a:endParaRPr lang="en-IN" dirty="0"/>
          </a:p>
        </p:txBody>
      </p:sp>
      <p:sp>
        <p:nvSpPr>
          <p:cNvPr id="4" name="Title 1">
            <a:extLst>
              <a:ext uri="{FF2B5EF4-FFF2-40B4-BE49-F238E27FC236}">
                <a16:creationId xmlns:a16="http://schemas.microsoft.com/office/drawing/2014/main" id="{FC7AF944-D0C6-817F-032D-8885DE3EF29D}"/>
              </a:ext>
            </a:extLst>
          </p:cNvPr>
          <p:cNvSpPr>
            <a:spLocks noGrp="1"/>
          </p:cNvSpPr>
          <p:nvPr>
            <p:ph type="title"/>
          </p:nvPr>
        </p:nvSpPr>
        <p:spPr>
          <a:xfrm>
            <a:off x="865188" y="927100"/>
            <a:ext cx="6646657" cy="709613"/>
          </a:xfrm>
        </p:spPr>
        <p:txBody>
          <a:bodyPr/>
          <a:lstStyle/>
          <a:p>
            <a:r>
              <a:rPr dirty="0"/>
              <a:t>Types of Neural Networks</a:t>
            </a:r>
            <a:r>
              <a:rPr lang="en-US" dirty="0"/>
              <a:t>(Cont.)</a:t>
            </a:r>
            <a:endParaRPr dirty="0"/>
          </a:p>
        </p:txBody>
      </p:sp>
    </p:spTree>
    <p:extLst>
      <p:ext uri="{BB962C8B-B14F-4D97-AF65-F5344CB8AC3E}">
        <p14:creationId xmlns:p14="http://schemas.microsoft.com/office/powerpoint/2010/main" val="3781202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a Neural Network</a:t>
            </a:r>
          </a:p>
        </p:txBody>
      </p:sp>
      <p:sp>
        <p:nvSpPr>
          <p:cNvPr id="3" name="Content Placeholder 2"/>
          <p:cNvSpPr>
            <a:spLocks noGrp="1"/>
          </p:cNvSpPr>
          <p:nvPr>
            <p:ph idx="1"/>
          </p:nvPr>
        </p:nvSpPr>
        <p:spPr>
          <a:xfrm>
            <a:off x="540775" y="2133600"/>
            <a:ext cx="8032954" cy="4522840"/>
          </a:xfrm>
        </p:spPr>
        <p:txBody>
          <a:bodyPr>
            <a:noAutofit/>
          </a:bodyPr>
          <a:lstStyle/>
          <a:p>
            <a:pPr>
              <a:spcBef>
                <a:spcPts val="0"/>
              </a:spcBef>
            </a:pPr>
            <a:r>
              <a:rPr lang="en-US" sz="1400" b="1" dirty="0"/>
              <a:t>Data Preprocessing and Normalization:</a:t>
            </a:r>
          </a:p>
          <a:p>
            <a:pPr marL="342900" lvl="1" indent="0">
              <a:spcBef>
                <a:spcPts val="0"/>
              </a:spcBef>
              <a:buNone/>
            </a:pPr>
            <a:r>
              <a:rPr lang="en-US" sz="1400" b="1" dirty="0"/>
              <a:t>Description:</a:t>
            </a:r>
            <a:r>
              <a:rPr lang="en-US" sz="1400" dirty="0"/>
              <a:t> Preparing and scaling data (e.g., scaling features to a range) to ensure neural networks perform efficiently.</a:t>
            </a:r>
          </a:p>
          <a:p>
            <a:pPr marL="342900" lvl="1" indent="0">
              <a:spcBef>
                <a:spcPts val="0"/>
              </a:spcBef>
              <a:buNone/>
            </a:pPr>
            <a:r>
              <a:rPr lang="en-US" sz="1400" b="1" dirty="0"/>
              <a:t>Example:</a:t>
            </a:r>
            <a:r>
              <a:rPr lang="en-US" sz="1400" dirty="0"/>
              <a:t> Normalizing pixel values (0-255) to the range 0-1 for image classification.</a:t>
            </a:r>
          </a:p>
          <a:p>
            <a:pPr marL="342900" lvl="1" indent="0">
              <a:spcBef>
                <a:spcPts val="0"/>
              </a:spcBef>
              <a:buNone/>
            </a:pPr>
            <a:endParaRPr lang="en-US" sz="1400" dirty="0"/>
          </a:p>
          <a:p>
            <a:pPr>
              <a:spcBef>
                <a:spcPts val="0"/>
              </a:spcBef>
            </a:pPr>
            <a:r>
              <a:rPr lang="en-US" sz="1400" b="1" dirty="0"/>
              <a:t>Cost Functions and Loss Minimization:</a:t>
            </a:r>
          </a:p>
          <a:p>
            <a:pPr marL="342900" lvl="1" indent="0">
              <a:spcBef>
                <a:spcPts val="0"/>
              </a:spcBef>
              <a:buNone/>
            </a:pPr>
            <a:r>
              <a:rPr lang="en-US" sz="1400" b="1" dirty="0"/>
              <a:t>Description:</a:t>
            </a:r>
            <a:r>
              <a:rPr lang="en-US" sz="1400" dirty="0"/>
              <a:t> A function that measures the error between predicted and actual values. The goal is to minimize this loss.</a:t>
            </a:r>
          </a:p>
          <a:p>
            <a:pPr marL="342900" lvl="1" indent="0">
              <a:spcBef>
                <a:spcPts val="0"/>
              </a:spcBef>
              <a:buNone/>
            </a:pPr>
            <a:r>
              <a:rPr lang="en-US" sz="1400" b="1" dirty="0"/>
              <a:t>Example:</a:t>
            </a:r>
            <a:r>
              <a:rPr lang="en-US" sz="1400" dirty="0"/>
              <a:t> Mean Squared Error (MSE) in regression tasks to minimize prediction errors.</a:t>
            </a:r>
          </a:p>
          <a:p>
            <a:pPr marL="342900" lvl="1" indent="0">
              <a:spcBef>
                <a:spcPts val="0"/>
              </a:spcBef>
              <a:buNone/>
            </a:pPr>
            <a:endParaRPr lang="en-US" sz="1400" dirty="0"/>
          </a:p>
          <a:p>
            <a:pPr>
              <a:spcBef>
                <a:spcPts val="0"/>
              </a:spcBef>
            </a:pPr>
            <a:r>
              <a:rPr lang="en-US" sz="1400" b="1" dirty="0"/>
              <a:t>Gradient Descent and Optimization Algorithms:</a:t>
            </a:r>
          </a:p>
          <a:p>
            <a:pPr marL="342900" lvl="1" indent="0">
              <a:spcBef>
                <a:spcPts val="0"/>
              </a:spcBef>
              <a:buNone/>
            </a:pPr>
            <a:r>
              <a:rPr lang="en-US" sz="1400" b="1" dirty="0"/>
              <a:t>Description:</a:t>
            </a:r>
            <a:r>
              <a:rPr lang="en-US" sz="1400" dirty="0"/>
              <a:t> An iterative process used to minimize the cost function by adjusting model weights in the direction of the steepest descent.</a:t>
            </a:r>
          </a:p>
          <a:p>
            <a:pPr marL="342900" lvl="1" indent="0">
              <a:spcBef>
                <a:spcPts val="0"/>
              </a:spcBef>
              <a:buNone/>
            </a:pPr>
            <a:r>
              <a:rPr lang="en-US" sz="1400" b="1" dirty="0"/>
              <a:t>Example:</a:t>
            </a:r>
            <a:r>
              <a:rPr lang="en-US" sz="1400" dirty="0"/>
              <a:t> Stochastic Gradient Descent (SGD) to optimize a neural network’s weights during training.</a:t>
            </a:r>
          </a:p>
          <a:p>
            <a:pPr marL="342900" lvl="1" indent="0">
              <a:spcBef>
                <a:spcPts val="0"/>
              </a:spcBef>
              <a:buNone/>
            </a:pPr>
            <a:endParaRPr lang="en-US" sz="1400" dirty="0"/>
          </a:p>
          <a:p>
            <a:pPr>
              <a:spcBef>
                <a:spcPts val="0"/>
              </a:spcBef>
            </a:pPr>
            <a:r>
              <a:rPr lang="en-US" sz="1400" b="1" dirty="0"/>
              <a:t>Overfitting and Regularization Techniques:</a:t>
            </a:r>
          </a:p>
          <a:p>
            <a:pPr marL="0" indent="0">
              <a:spcBef>
                <a:spcPts val="0"/>
              </a:spcBef>
              <a:buNone/>
            </a:pPr>
            <a:r>
              <a:rPr lang="en-US" sz="1400" b="1" dirty="0"/>
              <a:t>        Description:</a:t>
            </a:r>
            <a:r>
              <a:rPr lang="en-US" sz="1400" dirty="0"/>
              <a:t> Overfitting occurs when a model learns noise, not just patterns.           Regularization techniques like L2 (Ridge) prevent overfitting by penalizing large weights.</a:t>
            </a:r>
          </a:p>
          <a:p>
            <a:pPr marL="342900" lvl="1" indent="0">
              <a:spcBef>
                <a:spcPts val="0"/>
              </a:spcBef>
              <a:buNone/>
            </a:pPr>
            <a:r>
              <a:rPr lang="en-US" sz="1400" b="1" dirty="0"/>
              <a:t>Example:</a:t>
            </a:r>
            <a:r>
              <a:rPr lang="en-US" sz="1400" dirty="0"/>
              <a:t> </a:t>
            </a:r>
            <a:r>
              <a:rPr lang="en-US" sz="1400" b="1" dirty="0"/>
              <a:t>Dropout</a:t>
            </a:r>
            <a:r>
              <a:rPr lang="en-US" sz="1400" dirty="0"/>
              <a:t> is a regularization technique where random neurons are “dropped” during training to prevent overfitting</a:t>
            </a:r>
            <a:r>
              <a:rPr lang="en-US" sz="1300" dirty="0"/>
              <a:t>.</a:t>
            </a: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E021-05F1-F538-DC51-F714F9AC30DA}"/>
              </a:ext>
            </a:extLst>
          </p:cNvPr>
          <p:cNvSpPr>
            <a:spLocks noGrp="1"/>
          </p:cNvSpPr>
          <p:nvPr>
            <p:ph type="title"/>
          </p:nvPr>
        </p:nvSpPr>
        <p:spPr/>
        <p:txBody>
          <a:bodyPr/>
          <a:lstStyle/>
          <a:p>
            <a:pPr algn="ctr"/>
            <a:r>
              <a:rPr lang="en-US" dirty="0"/>
              <a:t>Automated Grading System</a:t>
            </a:r>
            <a:br>
              <a:rPr lang="en-US" dirty="0"/>
            </a:br>
            <a:r>
              <a:rPr lang="en-US" sz="1800" dirty="0"/>
              <a:t>(based on FNN)</a:t>
            </a:r>
            <a:endParaRPr lang="en-IN" dirty="0"/>
          </a:p>
        </p:txBody>
      </p:sp>
      <p:sp>
        <p:nvSpPr>
          <p:cNvPr id="3" name="Text Placeholder 2">
            <a:extLst>
              <a:ext uri="{FF2B5EF4-FFF2-40B4-BE49-F238E27FC236}">
                <a16:creationId xmlns:a16="http://schemas.microsoft.com/office/drawing/2014/main" id="{418D2E9F-3FC0-15BA-A4CC-C38C87E61E5F}"/>
              </a:ext>
            </a:extLst>
          </p:cNvPr>
          <p:cNvSpPr>
            <a:spLocks noGrp="1"/>
          </p:cNvSpPr>
          <p:nvPr>
            <p:ph type="body" sz="half" idx="2"/>
          </p:nvPr>
        </p:nvSpPr>
        <p:spPr/>
        <p:txBody>
          <a:bodyPr/>
          <a:lstStyle/>
          <a:p>
            <a:r>
              <a:rPr lang="en-US" b="1" dirty="0"/>
              <a:t>Problem: </a:t>
            </a:r>
            <a:r>
              <a:rPr lang="en-US" dirty="0"/>
              <a:t>Traditional grading methods are </a:t>
            </a:r>
            <a:r>
              <a:rPr lang="en-US" b="1" dirty="0"/>
              <a:t>time- consuming, prone to bias, and inconsistent</a:t>
            </a:r>
            <a:r>
              <a:rPr lang="en-US" dirty="0"/>
              <a:t>. Teachers spend hours grading assignments, leading to delays, in feedback. </a:t>
            </a:r>
            <a:endParaRPr lang="en-IN" dirty="0"/>
          </a:p>
        </p:txBody>
      </p:sp>
    </p:spTree>
    <p:extLst>
      <p:ext uri="{BB962C8B-B14F-4D97-AF65-F5344CB8AC3E}">
        <p14:creationId xmlns:p14="http://schemas.microsoft.com/office/powerpoint/2010/main" val="380103276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3DAE-CEBA-8613-4EFF-897CE003A6EE}"/>
              </a:ext>
            </a:extLst>
          </p:cNvPr>
          <p:cNvSpPr>
            <a:spLocks noGrp="1"/>
          </p:cNvSpPr>
          <p:nvPr>
            <p:ph type="title"/>
          </p:nvPr>
        </p:nvSpPr>
        <p:spPr>
          <a:xfrm>
            <a:off x="877534" y="924232"/>
            <a:ext cx="3090672" cy="833751"/>
          </a:xfrm>
        </p:spPr>
        <p:txBody>
          <a:bodyPr/>
          <a:lstStyle/>
          <a:p>
            <a:r>
              <a:rPr lang="en-US" dirty="0"/>
              <a:t>Methodology</a:t>
            </a:r>
            <a:endParaRPr lang="en-IN" dirty="0"/>
          </a:p>
        </p:txBody>
      </p:sp>
      <p:sp>
        <p:nvSpPr>
          <p:cNvPr id="4" name="Text Placeholder 3">
            <a:extLst>
              <a:ext uri="{FF2B5EF4-FFF2-40B4-BE49-F238E27FC236}">
                <a16:creationId xmlns:a16="http://schemas.microsoft.com/office/drawing/2014/main" id="{9982B752-BA9D-8335-7674-99EC138CA44F}"/>
              </a:ext>
            </a:extLst>
          </p:cNvPr>
          <p:cNvSpPr>
            <a:spLocks noGrp="1"/>
          </p:cNvSpPr>
          <p:nvPr>
            <p:ph type="body" idx="1"/>
          </p:nvPr>
        </p:nvSpPr>
        <p:spPr>
          <a:xfrm>
            <a:off x="5183950" y="1571213"/>
            <a:ext cx="3082516" cy="1950619"/>
          </a:xfrm>
        </p:spPr>
        <p:txBody>
          <a:bodyPr>
            <a:normAutofit fontScale="92500"/>
          </a:bodyPr>
          <a:lstStyle/>
          <a:p>
            <a:r>
              <a:rPr lang="en-US" dirty="0"/>
              <a:t>1) </a:t>
            </a:r>
            <a:r>
              <a:rPr lang="en-US" cap="none" dirty="0"/>
              <a:t>Understanding complex answers.</a:t>
            </a:r>
          </a:p>
          <a:p>
            <a:r>
              <a:rPr lang="en-US" cap="none" dirty="0"/>
              <a:t>2) Training Data Dependency</a:t>
            </a:r>
          </a:p>
          <a:p>
            <a:r>
              <a:rPr lang="en-US" cap="none" dirty="0"/>
              <a:t>3) Language Limitations</a:t>
            </a:r>
            <a:endParaRPr lang="en-IN" dirty="0"/>
          </a:p>
        </p:txBody>
      </p:sp>
      <p:sp>
        <p:nvSpPr>
          <p:cNvPr id="3" name="TextBox 2">
            <a:extLst>
              <a:ext uri="{FF2B5EF4-FFF2-40B4-BE49-F238E27FC236}">
                <a16:creationId xmlns:a16="http://schemas.microsoft.com/office/drawing/2014/main" id="{40242D32-D460-5AE9-A3FD-6A1908D8D8C6}"/>
              </a:ext>
            </a:extLst>
          </p:cNvPr>
          <p:cNvSpPr txBox="1"/>
          <p:nvPr/>
        </p:nvSpPr>
        <p:spPr>
          <a:xfrm>
            <a:off x="629265" y="2237696"/>
            <a:ext cx="3942735" cy="2862322"/>
          </a:xfrm>
          <a:prstGeom prst="rect">
            <a:avLst/>
          </a:prstGeom>
          <a:noFill/>
        </p:spPr>
        <p:txBody>
          <a:bodyPr wrap="square" rtlCol="0">
            <a:spAutoFit/>
          </a:bodyPr>
          <a:lstStyle/>
          <a:p>
            <a:pPr marL="342900" indent="-342900">
              <a:buAutoNum type="arabicParenR"/>
            </a:pPr>
            <a:r>
              <a:rPr lang="en-US" dirty="0">
                <a:solidFill>
                  <a:schemeClr val="bg1"/>
                </a:solidFill>
              </a:rPr>
              <a:t>Data Collection and Preprocessing.</a:t>
            </a:r>
          </a:p>
          <a:p>
            <a:pPr marL="342900" indent="-342900">
              <a:buAutoNum type="arabicParenR"/>
            </a:pPr>
            <a:r>
              <a:rPr lang="en-US" dirty="0">
                <a:solidFill>
                  <a:schemeClr val="bg1"/>
                </a:solidFill>
              </a:rPr>
              <a:t>Neural Network Model for Automated Grading</a:t>
            </a:r>
          </a:p>
          <a:p>
            <a:pPr marL="800100" lvl="1" indent="-342900">
              <a:buFont typeface="+mj-lt"/>
              <a:buAutoNum type="alphaUcPeriod"/>
            </a:pPr>
            <a:r>
              <a:rPr lang="en-US" dirty="0">
                <a:solidFill>
                  <a:schemeClr val="bg1"/>
                </a:solidFill>
              </a:rPr>
              <a:t>MCQ Grading (using FNN Algorithm)</a:t>
            </a:r>
          </a:p>
          <a:p>
            <a:pPr marL="800100" lvl="1" indent="-342900">
              <a:buFont typeface="+mj-lt"/>
              <a:buAutoNum type="alphaUcPeriod"/>
            </a:pPr>
            <a:r>
              <a:rPr lang="en-US" dirty="0">
                <a:solidFill>
                  <a:schemeClr val="bg1"/>
                </a:solidFill>
              </a:rPr>
              <a:t>Short Answer Grading (using NLP and FNN)</a:t>
            </a:r>
          </a:p>
          <a:p>
            <a:pPr marL="800100" lvl="1" indent="-342900">
              <a:buFont typeface="+mj-lt"/>
              <a:buAutoNum type="alphaUcPeriod"/>
            </a:pPr>
            <a:r>
              <a:rPr lang="en-US" dirty="0">
                <a:solidFill>
                  <a:schemeClr val="bg1"/>
                </a:solidFill>
              </a:rPr>
              <a:t>Easy Grading (using RNN &amp; Transformer Models)</a:t>
            </a:r>
            <a:endParaRPr lang="en-IN" dirty="0">
              <a:solidFill>
                <a:schemeClr val="bg1"/>
              </a:solidFill>
            </a:endParaRPr>
          </a:p>
        </p:txBody>
      </p:sp>
      <p:sp>
        <p:nvSpPr>
          <p:cNvPr id="5" name="TextBox 4">
            <a:extLst>
              <a:ext uri="{FF2B5EF4-FFF2-40B4-BE49-F238E27FC236}">
                <a16:creationId xmlns:a16="http://schemas.microsoft.com/office/drawing/2014/main" id="{325EE622-8CA4-51C9-5988-A4E5E5F3C3ED}"/>
              </a:ext>
            </a:extLst>
          </p:cNvPr>
          <p:cNvSpPr txBox="1"/>
          <p:nvPr/>
        </p:nvSpPr>
        <p:spPr>
          <a:xfrm>
            <a:off x="4827639" y="1022555"/>
            <a:ext cx="3374137" cy="523220"/>
          </a:xfrm>
          <a:prstGeom prst="rect">
            <a:avLst/>
          </a:prstGeom>
          <a:noFill/>
        </p:spPr>
        <p:txBody>
          <a:bodyPr wrap="square" rtlCol="0">
            <a:spAutoFit/>
          </a:bodyPr>
          <a:lstStyle/>
          <a:p>
            <a:pPr algn="ctr"/>
            <a:r>
              <a:rPr lang="en-US" sz="2800" b="1" dirty="0">
                <a:latin typeface="+mj-lt"/>
              </a:rPr>
              <a:t>Challenges</a:t>
            </a:r>
            <a:endParaRPr lang="en-IN" sz="2800" b="1" dirty="0">
              <a:latin typeface="+mj-lt"/>
            </a:endParaRPr>
          </a:p>
        </p:txBody>
      </p:sp>
      <p:sp>
        <p:nvSpPr>
          <p:cNvPr id="6" name="Text Placeholder 3">
            <a:extLst>
              <a:ext uri="{FF2B5EF4-FFF2-40B4-BE49-F238E27FC236}">
                <a16:creationId xmlns:a16="http://schemas.microsoft.com/office/drawing/2014/main" id="{5FEFDC87-5A30-847F-F223-68DB8A68A904}"/>
              </a:ext>
            </a:extLst>
          </p:cNvPr>
          <p:cNvSpPr txBox="1">
            <a:spLocks/>
          </p:cNvSpPr>
          <p:nvPr/>
        </p:nvSpPr>
        <p:spPr>
          <a:xfrm>
            <a:off x="5183950" y="4388155"/>
            <a:ext cx="3082516" cy="1950619"/>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lumMod val="60000"/>
                    <a:lumOff val="40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9pPr>
          </a:lstStyle>
          <a:p>
            <a:r>
              <a:rPr lang="en-US" dirty="0"/>
              <a:t>AI- </a:t>
            </a:r>
            <a:r>
              <a:rPr lang="en-US" cap="none" dirty="0"/>
              <a:t>Human hybrid grading models, emotion analysis in student writing, and personalized learning feedback.</a:t>
            </a:r>
            <a:endParaRPr lang="en-IN" dirty="0"/>
          </a:p>
        </p:txBody>
      </p:sp>
      <p:sp>
        <p:nvSpPr>
          <p:cNvPr id="7" name="TextBox 6">
            <a:extLst>
              <a:ext uri="{FF2B5EF4-FFF2-40B4-BE49-F238E27FC236}">
                <a16:creationId xmlns:a16="http://schemas.microsoft.com/office/drawing/2014/main" id="{7D2EA99B-C818-75EB-D004-08D10D279C49}"/>
              </a:ext>
            </a:extLst>
          </p:cNvPr>
          <p:cNvSpPr txBox="1"/>
          <p:nvPr/>
        </p:nvSpPr>
        <p:spPr>
          <a:xfrm>
            <a:off x="4892329" y="3693383"/>
            <a:ext cx="3730561" cy="523220"/>
          </a:xfrm>
          <a:prstGeom prst="rect">
            <a:avLst/>
          </a:prstGeom>
          <a:noFill/>
        </p:spPr>
        <p:txBody>
          <a:bodyPr wrap="square" rtlCol="0">
            <a:spAutoFit/>
          </a:bodyPr>
          <a:lstStyle/>
          <a:p>
            <a:pPr algn="ctr"/>
            <a:r>
              <a:rPr lang="en-US" sz="2800" b="1" dirty="0">
                <a:latin typeface="+mj-lt"/>
              </a:rPr>
              <a:t>Future Development</a:t>
            </a:r>
            <a:endParaRPr lang="en-IN" sz="2800" b="1" dirty="0">
              <a:latin typeface="+mj-lt"/>
            </a:endParaRPr>
          </a:p>
        </p:txBody>
      </p:sp>
    </p:spTree>
    <p:extLst>
      <p:ext uri="{BB962C8B-B14F-4D97-AF65-F5344CB8AC3E}">
        <p14:creationId xmlns:p14="http://schemas.microsoft.com/office/powerpoint/2010/main" val="226883951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259B2E-61E1-6DE1-B554-0D9B8CBB32B6}"/>
              </a:ext>
            </a:extLst>
          </p:cNvPr>
          <p:cNvSpPr>
            <a:spLocks noGrp="1"/>
          </p:cNvSpPr>
          <p:nvPr>
            <p:ph type="title"/>
          </p:nvPr>
        </p:nvSpPr>
        <p:spPr>
          <a:xfrm>
            <a:off x="866440" y="927100"/>
            <a:ext cx="6881379" cy="1692720"/>
          </a:xfrm>
        </p:spPr>
        <p:txBody>
          <a:bodyPr/>
          <a:lstStyle/>
          <a:p>
            <a:pPr algn="ctr"/>
            <a:r>
              <a:rPr lang="en-US" sz="2700" b="1" dirty="0"/>
              <a:t>Breast Cancer Detection and Treatment</a:t>
            </a:r>
            <a:br>
              <a:rPr lang="en-US" b="1" dirty="0"/>
            </a:br>
            <a:r>
              <a:rPr lang="en-US" sz="1800" b="1" dirty="0"/>
              <a:t>(based on CNN)</a:t>
            </a:r>
            <a:endParaRPr lang="en-IN" sz="1800" b="1" dirty="0"/>
          </a:p>
        </p:txBody>
      </p:sp>
      <p:sp>
        <p:nvSpPr>
          <p:cNvPr id="4" name="Text Placeholder 3">
            <a:extLst>
              <a:ext uri="{FF2B5EF4-FFF2-40B4-BE49-F238E27FC236}">
                <a16:creationId xmlns:a16="http://schemas.microsoft.com/office/drawing/2014/main" id="{1A3D29AA-3B4F-8973-FBCF-C0E829E8C199}"/>
              </a:ext>
            </a:extLst>
          </p:cNvPr>
          <p:cNvSpPr>
            <a:spLocks noGrp="1"/>
          </p:cNvSpPr>
          <p:nvPr>
            <p:ph type="body" sz="half" idx="2"/>
          </p:nvPr>
        </p:nvSpPr>
        <p:spPr>
          <a:xfrm>
            <a:off x="866440" y="3488023"/>
            <a:ext cx="7166515" cy="2765293"/>
          </a:xfrm>
        </p:spPr>
        <p:txBody>
          <a:bodyPr/>
          <a:lstStyle/>
          <a:p>
            <a:r>
              <a:rPr lang="en-US" b="1" dirty="0"/>
              <a:t>Problem: </a:t>
            </a:r>
            <a:r>
              <a:rPr lang="en-US" dirty="0"/>
              <a:t>Traditional breast cancer detection methods rely on heavily on radiologists' expertise, which cause:</a:t>
            </a:r>
          </a:p>
          <a:p>
            <a:pPr marL="285750" indent="-285750">
              <a:buFont typeface="Wingdings" panose="05000000000000000000" pitchFamily="2" charset="2"/>
              <a:buChar char="q"/>
            </a:pPr>
            <a:r>
              <a:rPr lang="en-US" b="1" dirty="0"/>
              <a:t>Delayed diagnosis </a:t>
            </a:r>
            <a:r>
              <a:rPr lang="en-US" dirty="0"/>
              <a:t>due to human limitation.</a:t>
            </a:r>
          </a:p>
          <a:p>
            <a:pPr marL="285750" indent="-285750">
              <a:buFont typeface="Wingdings" panose="05000000000000000000" pitchFamily="2" charset="2"/>
              <a:buChar char="q"/>
            </a:pPr>
            <a:r>
              <a:rPr lang="en-US" b="1" dirty="0"/>
              <a:t>Inconsistent results </a:t>
            </a:r>
            <a:r>
              <a:rPr lang="en-US" dirty="0"/>
              <a:t>due to subjective interpretation.</a:t>
            </a:r>
          </a:p>
          <a:p>
            <a:pPr marL="285750" indent="-285750">
              <a:buFont typeface="Wingdings" panose="05000000000000000000" pitchFamily="2" charset="2"/>
              <a:buChar char="q"/>
            </a:pPr>
            <a:r>
              <a:rPr lang="en-US" b="1" dirty="0"/>
              <a:t>Missed early- stage tumors</a:t>
            </a:r>
            <a:r>
              <a:rPr lang="en-US" dirty="0"/>
              <a:t>, especially in dense breast tissue.</a:t>
            </a:r>
            <a:endParaRPr lang="en-IN" dirty="0"/>
          </a:p>
        </p:txBody>
      </p:sp>
    </p:spTree>
    <p:extLst>
      <p:ext uri="{BB962C8B-B14F-4D97-AF65-F5344CB8AC3E}">
        <p14:creationId xmlns:p14="http://schemas.microsoft.com/office/powerpoint/2010/main" val="298614677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4F1B-C746-C9D3-F911-674DAF13B8F7}"/>
              </a:ext>
            </a:extLst>
          </p:cNvPr>
          <p:cNvSpPr>
            <a:spLocks noGrp="1"/>
          </p:cNvSpPr>
          <p:nvPr>
            <p:ph type="title"/>
          </p:nvPr>
        </p:nvSpPr>
        <p:spPr>
          <a:xfrm>
            <a:off x="866440" y="472703"/>
            <a:ext cx="2987089" cy="565397"/>
          </a:xfrm>
        </p:spPr>
        <p:txBody>
          <a:bodyPr/>
          <a:lstStyle/>
          <a:p>
            <a:r>
              <a:rPr lang="en-US" b="1" dirty="0"/>
              <a:t>Methodology</a:t>
            </a:r>
            <a:endParaRPr lang="en-IN" b="1" dirty="0"/>
          </a:p>
        </p:txBody>
      </p:sp>
      <p:sp>
        <p:nvSpPr>
          <p:cNvPr id="4" name="Text Placeholder 3">
            <a:extLst>
              <a:ext uri="{FF2B5EF4-FFF2-40B4-BE49-F238E27FC236}">
                <a16:creationId xmlns:a16="http://schemas.microsoft.com/office/drawing/2014/main" id="{4546EAB3-330B-220F-D2BA-0EDA28475AE2}"/>
              </a:ext>
            </a:extLst>
          </p:cNvPr>
          <p:cNvSpPr>
            <a:spLocks noGrp="1"/>
          </p:cNvSpPr>
          <p:nvPr>
            <p:ph type="body" sz="half" idx="2"/>
          </p:nvPr>
        </p:nvSpPr>
        <p:spPr>
          <a:xfrm>
            <a:off x="658761" y="1047933"/>
            <a:ext cx="3451123" cy="4942392"/>
          </a:xfrm>
        </p:spPr>
        <p:txBody>
          <a:bodyPr>
            <a:noAutofit/>
          </a:bodyPr>
          <a:lstStyle/>
          <a:p>
            <a:r>
              <a:rPr lang="en-US" sz="1200" dirty="0">
                <a:solidFill>
                  <a:schemeClr val="accent6">
                    <a:lumMod val="20000"/>
                    <a:lumOff val="80000"/>
                  </a:schemeClr>
                </a:solidFill>
              </a:rPr>
              <a:t>1) Data Collection</a:t>
            </a:r>
          </a:p>
          <a:p>
            <a:pPr marL="685800" lvl="1" indent="-228600">
              <a:buFont typeface="+mj-lt"/>
              <a:buAutoNum type="alphaUcPeriod"/>
            </a:pPr>
            <a:r>
              <a:rPr lang="en-US" dirty="0">
                <a:solidFill>
                  <a:schemeClr val="accent6">
                    <a:lumMod val="20000"/>
                    <a:lumOff val="80000"/>
                  </a:schemeClr>
                </a:solidFill>
              </a:rPr>
              <a:t>DDSM (Digital Database for Screening </a:t>
            </a:r>
            <a:r>
              <a:rPr lang="en-US" dirty="0" err="1">
                <a:solidFill>
                  <a:schemeClr val="accent6">
                    <a:lumMod val="20000"/>
                    <a:lumOff val="80000"/>
                  </a:schemeClr>
                </a:solidFill>
              </a:rPr>
              <a:t>Mamography</a:t>
            </a:r>
            <a:r>
              <a:rPr lang="en-US" dirty="0">
                <a:solidFill>
                  <a:schemeClr val="accent6">
                    <a:lumMod val="20000"/>
                    <a:lumOff val="80000"/>
                  </a:schemeClr>
                </a:solidFill>
              </a:rPr>
              <a:t>)</a:t>
            </a:r>
          </a:p>
          <a:p>
            <a:pPr marL="685800" lvl="1" indent="-228600">
              <a:buFont typeface="+mj-lt"/>
              <a:buAutoNum type="alphaUcPeriod"/>
            </a:pPr>
            <a:r>
              <a:rPr lang="en-US" dirty="0" err="1">
                <a:solidFill>
                  <a:schemeClr val="accent6">
                    <a:lumMod val="20000"/>
                    <a:lumOff val="80000"/>
                  </a:schemeClr>
                </a:solidFill>
              </a:rPr>
              <a:t>INbreast</a:t>
            </a:r>
            <a:r>
              <a:rPr lang="en-US" dirty="0">
                <a:solidFill>
                  <a:schemeClr val="accent6">
                    <a:lumMod val="20000"/>
                    <a:lumOff val="80000"/>
                  </a:schemeClr>
                </a:solidFill>
              </a:rPr>
              <a:t> (Full- field digital </a:t>
            </a:r>
            <a:r>
              <a:rPr lang="en-US" dirty="0" err="1">
                <a:solidFill>
                  <a:schemeClr val="accent6">
                    <a:lumMod val="20000"/>
                    <a:lumOff val="80000"/>
                  </a:schemeClr>
                </a:solidFill>
              </a:rPr>
              <a:t>Mamography</a:t>
            </a:r>
            <a:r>
              <a:rPr lang="en-US" dirty="0">
                <a:solidFill>
                  <a:schemeClr val="accent6">
                    <a:lumMod val="20000"/>
                    <a:lumOff val="80000"/>
                  </a:schemeClr>
                </a:solidFill>
              </a:rPr>
              <a:t> dataset)</a:t>
            </a:r>
          </a:p>
          <a:p>
            <a:pPr marL="685800" lvl="1" indent="-228600">
              <a:buFont typeface="+mj-lt"/>
              <a:buAutoNum type="alphaUcPeriod"/>
            </a:pPr>
            <a:r>
              <a:rPr lang="en-US" dirty="0" err="1">
                <a:solidFill>
                  <a:schemeClr val="accent6">
                    <a:lumMod val="20000"/>
                    <a:lumOff val="80000"/>
                  </a:schemeClr>
                </a:solidFill>
              </a:rPr>
              <a:t>BreakHis</a:t>
            </a:r>
            <a:r>
              <a:rPr lang="en-US" dirty="0">
                <a:solidFill>
                  <a:schemeClr val="accent6">
                    <a:lumMod val="20000"/>
                    <a:lumOff val="80000"/>
                  </a:schemeClr>
                </a:solidFill>
              </a:rPr>
              <a:t> (Break Cancer Histopathological Image Dataset)</a:t>
            </a:r>
          </a:p>
          <a:p>
            <a:r>
              <a:rPr lang="en-US" sz="1200" dirty="0">
                <a:solidFill>
                  <a:schemeClr val="accent6">
                    <a:lumMod val="20000"/>
                    <a:lumOff val="80000"/>
                  </a:schemeClr>
                </a:solidFill>
              </a:rPr>
              <a:t>2) Image Preprocessing</a:t>
            </a:r>
          </a:p>
          <a:p>
            <a:pPr marL="685800" lvl="1" indent="-228600">
              <a:buFont typeface="+mj-lt"/>
              <a:buAutoNum type="alphaUcPeriod"/>
            </a:pPr>
            <a:r>
              <a:rPr lang="en-US" dirty="0">
                <a:solidFill>
                  <a:schemeClr val="accent6">
                    <a:lumMod val="20000"/>
                    <a:lumOff val="80000"/>
                  </a:schemeClr>
                </a:solidFill>
              </a:rPr>
              <a:t>Noise Reduction</a:t>
            </a:r>
          </a:p>
          <a:p>
            <a:pPr marL="685800" lvl="1" indent="-228600">
              <a:buFont typeface="+mj-lt"/>
              <a:buAutoNum type="alphaUcPeriod"/>
            </a:pPr>
            <a:r>
              <a:rPr lang="en-US" dirty="0">
                <a:solidFill>
                  <a:schemeClr val="accent6">
                    <a:lumMod val="20000"/>
                    <a:lumOff val="80000"/>
                  </a:schemeClr>
                </a:solidFill>
              </a:rPr>
              <a:t>Contrast Enhancement</a:t>
            </a:r>
          </a:p>
          <a:p>
            <a:pPr marL="685800" lvl="1" indent="-228600">
              <a:buFont typeface="+mj-lt"/>
              <a:buAutoNum type="alphaUcPeriod"/>
            </a:pPr>
            <a:r>
              <a:rPr lang="en-US" dirty="0">
                <a:solidFill>
                  <a:schemeClr val="accent6">
                    <a:lumMod val="20000"/>
                    <a:lumOff val="80000"/>
                  </a:schemeClr>
                </a:solidFill>
              </a:rPr>
              <a:t>Segmentation</a:t>
            </a:r>
          </a:p>
          <a:p>
            <a:pPr marL="685800" lvl="1" indent="-228600">
              <a:buFont typeface="+mj-lt"/>
              <a:buAutoNum type="alphaUcPeriod"/>
            </a:pPr>
            <a:r>
              <a:rPr lang="en-US" dirty="0">
                <a:solidFill>
                  <a:schemeClr val="accent6">
                    <a:lumMod val="20000"/>
                    <a:lumOff val="80000"/>
                  </a:schemeClr>
                </a:solidFill>
              </a:rPr>
              <a:t>Normalization</a:t>
            </a:r>
          </a:p>
          <a:p>
            <a:r>
              <a:rPr lang="en-IN" sz="1200" dirty="0">
                <a:solidFill>
                  <a:schemeClr val="accent6">
                    <a:lumMod val="20000"/>
                    <a:lumOff val="80000"/>
                  </a:schemeClr>
                </a:solidFill>
              </a:rPr>
              <a:t>3) CNN Model Architecture</a:t>
            </a:r>
          </a:p>
          <a:p>
            <a:pPr marL="685800" lvl="1" indent="-228600">
              <a:buFont typeface="+mj-lt"/>
              <a:buAutoNum type="alphaUcPeriod"/>
            </a:pPr>
            <a:r>
              <a:rPr lang="en-IN" dirty="0">
                <a:solidFill>
                  <a:schemeClr val="accent6">
                    <a:lumMod val="20000"/>
                    <a:lumOff val="80000"/>
                  </a:schemeClr>
                </a:solidFill>
              </a:rPr>
              <a:t>Input Layer</a:t>
            </a:r>
          </a:p>
          <a:p>
            <a:pPr marL="685800" lvl="1" indent="-228600">
              <a:buFont typeface="+mj-lt"/>
              <a:buAutoNum type="alphaUcPeriod"/>
            </a:pPr>
            <a:r>
              <a:rPr lang="en-IN" dirty="0">
                <a:solidFill>
                  <a:schemeClr val="accent6">
                    <a:lumMod val="20000"/>
                    <a:lumOff val="80000"/>
                  </a:schemeClr>
                </a:solidFill>
              </a:rPr>
              <a:t>Convolutional Layer</a:t>
            </a:r>
          </a:p>
          <a:p>
            <a:pPr marL="685800" lvl="1" indent="-228600">
              <a:buFont typeface="+mj-lt"/>
              <a:buAutoNum type="alphaUcPeriod"/>
            </a:pPr>
            <a:r>
              <a:rPr lang="en-IN" dirty="0">
                <a:solidFill>
                  <a:schemeClr val="accent6">
                    <a:lumMod val="20000"/>
                    <a:lumOff val="80000"/>
                  </a:schemeClr>
                </a:solidFill>
              </a:rPr>
              <a:t>Pooling Layers</a:t>
            </a:r>
          </a:p>
          <a:p>
            <a:pPr marL="685800" lvl="1" indent="-228600">
              <a:buFont typeface="+mj-lt"/>
              <a:buAutoNum type="alphaUcPeriod"/>
            </a:pPr>
            <a:r>
              <a:rPr lang="en-IN" dirty="0">
                <a:solidFill>
                  <a:schemeClr val="accent6">
                    <a:lumMod val="20000"/>
                    <a:lumOff val="80000"/>
                  </a:schemeClr>
                </a:solidFill>
              </a:rPr>
              <a:t>Fully Connected Layers</a:t>
            </a:r>
          </a:p>
          <a:p>
            <a:pPr marL="685800" lvl="1" indent="-228600">
              <a:buFont typeface="+mj-lt"/>
              <a:buAutoNum type="alphaUcPeriod"/>
            </a:pPr>
            <a:r>
              <a:rPr lang="en-IN" dirty="0">
                <a:solidFill>
                  <a:schemeClr val="accent6">
                    <a:lumMod val="20000"/>
                    <a:lumOff val="80000"/>
                  </a:schemeClr>
                </a:solidFill>
              </a:rPr>
              <a:t>Output Layer</a:t>
            </a:r>
          </a:p>
        </p:txBody>
      </p:sp>
      <p:grpSp>
        <p:nvGrpSpPr>
          <p:cNvPr id="9" name="Group 8">
            <a:extLst>
              <a:ext uri="{FF2B5EF4-FFF2-40B4-BE49-F238E27FC236}">
                <a16:creationId xmlns:a16="http://schemas.microsoft.com/office/drawing/2014/main" id="{C19739CF-B2FC-89AD-093B-BBB6FCEFDB95}"/>
              </a:ext>
            </a:extLst>
          </p:cNvPr>
          <p:cNvGrpSpPr/>
          <p:nvPr/>
        </p:nvGrpSpPr>
        <p:grpSpPr>
          <a:xfrm>
            <a:off x="4613245" y="1226491"/>
            <a:ext cx="3451123" cy="2202509"/>
            <a:chOff x="4827639" y="1022555"/>
            <a:chExt cx="3374137" cy="2597599"/>
          </a:xfrm>
        </p:grpSpPr>
        <p:sp>
          <p:nvSpPr>
            <p:cNvPr id="5" name="TextBox 4">
              <a:extLst>
                <a:ext uri="{FF2B5EF4-FFF2-40B4-BE49-F238E27FC236}">
                  <a16:creationId xmlns:a16="http://schemas.microsoft.com/office/drawing/2014/main" id="{08476503-FF4B-6CAC-8137-0964B130645E}"/>
                </a:ext>
              </a:extLst>
            </p:cNvPr>
            <p:cNvSpPr txBox="1"/>
            <p:nvPr/>
          </p:nvSpPr>
          <p:spPr>
            <a:xfrm>
              <a:off x="4827639" y="1022555"/>
              <a:ext cx="3374137" cy="523220"/>
            </a:xfrm>
            <a:prstGeom prst="rect">
              <a:avLst/>
            </a:prstGeom>
            <a:noFill/>
          </p:spPr>
          <p:txBody>
            <a:bodyPr wrap="square" rtlCol="0">
              <a:spAutoFit/>
            </a:bodyPr>
            <a:lstStyle/>
            <a:p>
              <a:pPr algn="ctr"/>
              <a:r>
                <a:rPr lang="en-US" sz="2800" b="1" dirty="0">
                  <a:latin typeface="+mj-lt"/>
                </a:rPr>
                <a:t>Challenges</a:t>
              </a:r>
              <a:endParaRPr lang="en-IN" sz="2800" b="1" dirty="0">
                <a:latin typeface="+mj-lt"/>
              </a:endParaRPr>
            </a:p>
          </p:txBody>
        </p:sp>
        <p:sp>
          <p:nvSpPr>
            <p:cNvPr id="6" name="Text Placeholder 3">
              <a:extLst>
                <a:ext uri="{FF2B5EF4-FFF2-40B4-BE49-F238E27FC236}">
                  <a16:creationId xmlns:a16="http://schemas.microsoft.com/office/drawing/2014/main" id="{AF5C6845-3DDD-3698-40AB-F46966260073}"/>
                </a:ext>
              </a:extLst>
            </p:cNvPr>
            <p:cNvSpPr txBox="1">
              <a:spLocks/>
            </p:cNvSpPr>
            <p:nvPr/>
          </p:nvSpPr>
          <p:spPr>
            <a:xfrm>
              <a:off x="5119260" y="1669535"/>
              <a:ext cx="3082516" cy="1950619"/>
            </a:xfrm>
            <a:prstGeom prst="roundRect">
              <a:avLst>
                <a:gd name="adj" fmla="val 1858"/>
              </a:avLst>
            </a:prstGeom>
            <a:effectLst>
              <a:outerShdw blurRad="50800" dist="50800" dir="5400000" algn="tl" rotWithShape="0">
                <a:srgbClr val="000000">
                  <a:alpha val="43000"/>
                </a:srgbClr>
              </a:outerShdw>
            </a:effectLst>
          </p:spPr>
          <p:txBody>
            <a:bodyPr vert="horz" lIns="91440" tIns="45720" rIns="91440" bIns="45720" rtlCol="0" anchor="t">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lumMod val="75000"/>
                      <a:lumOff val="25000"/>
                    </a:schemeClr>
                  </a:solidFill>
                  <a:latin typeface="+mn-lt"/>
                  <a:ea typeface="+mn-ea"/>
                  <a:cs typeface="+mn-cs"/>
                </a:defRPr>
              </a:lvl9pPr>
            </a:lstStyle>
            <a:p>
              <a:r>
                <a:rPr lang="en-US" dirty="0"/>
                <a:t>1) Data Availability</a:t>
              </a:r>
            </a:p>
            <a:p>
              <a:r>
                <a:rPr lang="en-US" dirty="0"/>
                <a:t>2) Interpretability</a:t>
              </a:r>
            </a:p>
            <a:p>
              <a:r>
                <a:rPr lang="en-US" dirty="0"/>
                <a:t>3) Generalization Issues</a:t>
              </a:r>
              <a:endParaRPr lang="en-IN" dirty="0"/>
            </a:p>
          </p:txBody>
        </p:sp>
      </p:grpSp>
      <p:grpSp>
        <p:nvGrpSpPr>
          <p:cNvPr id="10" name="Group 9">
            <a:extLst>
              <a:ext uri="{FF2B5EF4-FFF2-40B4-BE49-F238E27FC236}">
                <a16:creationId xmlns:a16="http://schemas.microsoft.com/office/drawing/2014/main" id="{21CDE1CC-C65B-79B1-D2A5-525933678AB8}"/>
              </a:ext>
            </a:extLst>
          </p:cNvPr>
          <p:cNvGrpSpPr/>
          <p:nvPr/>
        </p:nvGrpSpPr>
        <p:grpSpPr>
          <a:xfrm>
            <a:off x="4754678" y="3510613"/>
            <a:ext cx="3730561" cy="2411931"/>
            <a:chOff x="4754678" y="2595838"/>
            <a:chExt cx="3730561" cy="2411931"/>
          </a:xfrm>
        </p:grpSpPr>
        <p:sp>
          <p:nvSpPr>
            <p:cNvPr id="7" name="TextBox 6">
              <a:extLst>
                <a:ext uri="{FF2B5EF4-FFF2-40B4-BE49-F238E27FC236}">
                  <a16:creationId xmlns:a16="http://schemas.microsoft.com/office/drawing/2014/main" id="{C05EF994-5257-5532-130B-52E52A14EC62}"/>
                </a:ext>
              </a:extLst>
            </p:cNvPr>
            <p:cNvSpPr txBox="1"/>
            <p:nvPr/>
          </p:nvSpPr>
          <p:spPr>
            <a:xfrm>
              <a:off x="4754678" y="2595838"/>
              <a:ext cx="3730561" cy="523220"/>
            </a:xfrm>
            <a:prstGeom prst="rect">
              <a:avLst/>
            </a:prstGeom>
            <a:noFill/>
          </p:spPr>
          <p:txBody>
            <a:bodyPr wrap="square" rtlCol="0">
              <a:spAutoFit/>
            </a:bodyPr>
            <a:lstStyle/>
            <a:p>
              <a:pPr algn="ctr"/>
              <a:r>
                <a:rPr lang="en-US" sz="2800" b="1" dirty="0">
                  <a:latin typeface="+mj-lt"/>
                </a:rPr>
                <a:t>Future Development</a:t>
              </a:r>
              <a:endParaRPr lang="en-IN" sz="2800" b="1" dirty="0">
                <a:latin typeface="+mj-lt"/>
              </a:endParaRPr>
            </a:p>
          </p:txBody>
        </p:sp>
        <p:sp>
          <p:nvSpPr>
            <p:cNvPr id="8" name="Text Placeholder 3">
              <a:extLst>
                <a:ext uri="{FF2B5EF4-FFF2-40B4-BE49-F238E27FC236}">
                  <a16:creationId xmlns:a16="http://schemas.microsoft.com/office/drawing/2014/main" id="{5A0903A6-DD6E-7FB4-DD7E-7B52A88A9CC0}"/>
                </a:ext>
              </a:extLst>
            </p:cNvPr>
            <p:cNvSpPr txBox="1">
              <a:spLocks/>
            </p:cNvSpPr>
            <p:nvPr/>
          </p:nvSpPr>
          <p:spPr>
            <a:xfrm>
              <a:off x="5034118" y="3057150"/>
              <a:ext cx="3082516" cy="1950619"/>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lumMod val="60000"/>
                      <a:lumOff val="40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9pPr>
            </a:lstStyle>
            <a:p>
              <a:pPr marL="457200" indent="-457200">
                <a:buAutoNum type="arabicParenR"/>
              </a:pPr>
              <a:r>
                <a:rPr lang="en-US" cap="none" dirty="0"/>
                <a:t>Hybrid AI models</a:t>
              </a:r>
            </a:p>
            <a:p>
              <a:pPr marL="457200" indent="-457200">
                <a:buAutoNum type="arabicParenR"/>
              </a:pPr>
              <a:r>
                <a:rPr lang="en-US" cap="none" dirty="0"/>
                <a:t>Explainable AI</a:t>
              </a:r>
            </a:p>
            <a:p>
              <a:pPr marL="457200" indent="-457200">
                <a:buAutoNum type="arabicParenR"/>
              </a:pPr>
              <a:r>
                <a:rPr lang="en-US" cap="none" dirty="0"/>
                <a:t>3d CNNs for MRI analysis</a:t>
              </a:r>
              <a:endParaRPr lang="en-IN" cap="none" dirty="0"/>
            </a:p>
          </p:txBody>
        </p:sp>
      </p:grpSp>
    </p:spTree>
    <p:extLst>
      <p:ext uri="{BB962C8B-B14F-4D97-AF65-F5344CB8AC3E}">
        <p14:creationId xmlns:p14="http://schemas.microsoft.com/office/powerpoint/2010/main" val="82620099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4B9F-0D4B-A155-57A5-B10084DBF4A4}"/>
              </a:ext>
            </a:extLst>
          </p:cNvPr>
          <p:cNvSpPr>
            <a:spLocks noGrp="1"/>
          </p:cNvSpPr>
          <p:nvPr>
            <p:ph type="title"/>
          </p:nvPr>
        </p:nvSpPr>
        <p:spPr/>
        <p:txBody>
          <a:bodyPr/>
          <a:lstStyle/>
          <a:p>
            <a:pPr algn="ctr"/>
            <a:r>
              <a:rPr lang="en-US" b="1" dirty="0"/>
              <a:t>VIDEO CAPTIONING</a:t>
            </a:r>
            <a:br>
              <a:rPr lang="en-US" dirty="0"/>
            </a:br>
            <a:r>
              <a:rPr lang="en-US" sz="1600" b="1" dirty="0"/>
              <a:t>(based on RNN)</a:t>
            </a:r>
            <a:endParaRPr lang="en-IN" sz="1600" dirty="0"/>
          </a:p>
        </p:txBody>
      </p:sp>
      <p:sp>
        <p:nvSpPr>
          <p:cNvPr id="3" name="Text Placeholder 2">
            <a:extLst>
              <a:ext uri="{FF2B5EF4-FFF2-40B4-BE49-F238E27FC236}">
                <a16:creationId xmlns:a16="http://schemas.microsoft.com/office/drawing/2014/main" id="{58455C50-75A7-6C6A-8552-F75723CE072D}"/>
              </a:ext>
            </a:extLst>
          </p:cNvPr>
          <p:cNvSpPr>
            <a:spLocks noGrp="1"/>
          </p:cNvSpPr>
          <p:nvPr>
            <p:ph type="body" sz="half" idx="2"/>
          </p:nvPr>
        </p:nvSpPr>
        <p:spPr/>
        <p:txBody>
          <a:bodyPr/>
          <a:lstStyle/>
          <a:p>
            <a:r>
              <a:rPr lang="en-US" b="1" dirty="0"/>
              <a:t>Problem: </a:t>
            </a:r>
            <a:r>
              <a:rPr lang="en-US" dirty="0"/>
              <a:t>Traditional video captioning methods rely on manual annotation, which is </a:t>
            </a:r>
            <a:r>
              <a:rPr lang="en-US" b="1" dirty="0"/>
              <a:t>time- consuming, labor- intensive, and prone to human errors</a:t>
            </a:r>
            <a:r>
              <a:rPr lang="en-US" dirty="0"/>
              <a:t>. The goal is to develop an automated deep learning model that can generate meaningful captions for video in real- time.  </a:t>
            </a:r>
            <a:endParaRPr lang="en-IN" dirty="0"/>
          </a:p>
        </p:txBody>
      </p:sp>
    </p:spTree>
    <p:extLst>
      <p:ext uri="{BB962C8B-B14F-4D97-AF65-F5344CB8AC3E}">
        <p14:creationId xmlns:p14="http://schemas.microsoft.com/office/powerpoint/2010/main" val="177859959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3A05-32BD-5FD1-188A-EBF3F2FA6276}"/>
              </a:ext>
            </a:extLst>
          </p:cNvPr>
          <p:cNvSpPr>
            <a:spLocks noGrp="1"/>
          </p:cNvSpPr>
          <p:nvPr>
            <p:ph type="title"/>
          </p:nvPr>
        </p:nvSpPr>
        <p:spPr>
          <a:xfrm>
            <a:off x="758285" y="670306"/>
            <a:ext cx="2712590" cy="1158494"/>
          </a:xfrm>
        </p:spPr>
        <p:txBody>
          <a:bodyPr/>
          <a:lstStyle/>
          <a:p>
            <a:r>
              <a:rPr lang="en-US" b="1" dirty="0"/>
              <a:t>Seq2Seq model with CNN- RNN Architecture</a:t>
            </a:r>
            <a:endParaRPr lang="en-IN" b="1" dirty="0"/>
          </a:p>
        </p:txBody>
      </p:sp>
      <p:sp>
        <p:nvSpPr>
          <p:cNvPr id="3" name="Content Placeholder 2">
            <a:extLst>
              <a:ext uri="{FF2B5EF4-FFF2-40B4-BE49-F238E27FC236}">
                <a16:creationId xmlns:a16="http://schemas.microsoft.com/office/drawing/2014/main" id="{4627F8BD-BD23-E506-0723-AAD7BC51180D}"/>
              </a:ext>
            </a:extLst>
          </p:cNvPr>
          <p:cNvSpPr>
            <a:spLocks noGrp="1"/>
          </p:cNvSpPr>
          <p:nvPr>
            <p:ph idx="1"/>
          </p:nvPr>
        </p:nvSpPr>
        <p:spPr>
          <a:xfrm>
            <a:off x="4554908" y="729299"/>
            <a:ext cx="3632850" cy="5514184"/>
          </a:xfrm>
        </p:spPr>
        <p:txBody>
          <a:bodyPr>
            <a:noAutofit/>
          </a:bodyPr>
          <a:lstStyle/>
          <a:p>
            <a:pPr>
              <a:buFont typeface="Wingdings" panose="05000000000000000000" pitchFamily="2" charset="2"/>
              <a:buChar char="q"/>
            </a:pPr>
            <a:r>
              <a:rPr lang="en-US" b="1" dirty="0"/>
              <a:t>CHALLENGES:</a:t>
            </a:r>
          </a:p>
          <a:p>
            <a:pPr lvl="1"/>
            <a:r>
              <a:rPr lang="en-US" sz="1800" dirty="0"/>
              <a:t>Video understanding complexity</a:t>
            </a:r>
          </a:p>
          <a:p>
            <a:pPr lvl="1"/>
            <a:r>
              <a:rPr lang="en-US" sz="1800" dirty="0"/>
              <a:t>Data Annotation</a:t>
            </a:r>
          </a:p>
          <a:p>
            <a:pPr lvl="1"/>
            <a:r>
              <a:rPr lang="en-US" sz="1800" dirty="0"/>
              <a:t>Language Ambiguity</a:t>
            </a:r>
          </a:p>
          <a:p>
            <a:pPr lvl="1"/>
            <a:r>
              <a:rPr lang="en-US" sz="1800" dirty="0"/>
              <a:t>Computational Cost</a:t>
            </a:r>
          </a:p>
          <a:p>
            <a:pPr marL="402336" lvl="1" indent="0">
              <a:buNone/>
            </a:pPr>
            <a:endParaRPr lang="en-IN" sz="1800" dirty="0"/>
          </a:p>
          <a:p>
            <a:pPr>
              <a:buFont typeface="Wingdings" panose="05000000000000000000" pitchFamily="2" charset="2"/>
              <a:buChar char="v"/>
            </a:pPr>
            <a:r>
              <a:rPr lang="en-IN" b="1" dirty="0"/>
              <a:t>FUTURE ENHANCEMENTS</a:t>
            </a:r>
          </a:p>
          <a:p>
            <a:pPr lvl="1"/>
            <a:r>
              <a:rPr lang="en-IN" sz="1800" dirty="0"/>
              <a:t>Transformer- Based approaches</a:t>
            </a:r>
          </a:p>
          <a:p>
            <a:pPr lvl="1"/>
            <a:r>
              <a:rPr lang="en-IN" sz="1800" dirty="0"/>
              <a:t>Multimodal Learning</a:t>
            </a:r>
          </a:p>
          <a:p>
            <a:pPr lvl="1"/>
            <a:r>
              <a:rPr lang="en-IN" sz="1800" dirty="0"/>
              <a:t>Few- Shot &amp; Zero Shot Learning</a:t>
            </a:r>
          </a:p>
          <a:p>
            <a:pPr lvl="1"/>
            <a:r>
              <a:rPr lang="en-IN" sz="1800" dirty="0"/>
              <a:t>Real- Time Video Captioning</a:t>
            </a:r>
            <a:endParaRPr lang="en-US" sz="1800" dirty="0"/>
          </a:p>
        </p:txBody>
      </p:sp>
      <p:sp>
        <p:nvSpPr>
          <p:cNvPr id="4" name="Text Placeholder 3">
            <a:extLst>
              <a:ext uri="{FF2B5EF4-FFF2-40B4-BE49-F238E27FC236}">
                <a16:creationId xmlns:a16="http://schemas.microsoft.com/office/drawing/2014/main" id="{8BFA9A40-8252-3F1C-46AF-B38A0FA8802F}"/>
              </a:ext>
            </a:extLst>
          </p:cNvPr>
          <p:cNvSpPr>
            <a:spLocks noGrp="1"/>
          </p:cNvSpPr>
          <p:nvPr>
            <p:ph type="body" sz="half" idx="2"/>
          </p:nvPr>
        </p:nvSpPr>
        <p:spPr>
          <a:xfrm>
            <a:off x="866441" y="2015613"/>
            <a:ext cx="2712589" cy="3837785"/>
          </a:xfrm>
        </p:spPr>
        <p:txBody>
          <a:bodyPr>
            <a:noAutofit/>
          </a:bodyPr>
          <a:lstStyle/>
          <a:p>
            <a:r>
              <a:rPr lang="en-US" sz="1600" dirty="0"/>
              <a:t>Steps are: </a:t>
            </a:r>
          </a:p>
          <a:p>
            <a:pPr marL="342900" indent="-342900">
              <a:buAutoNum type="arabicParenR"/>
            </a:pPr>
            <a:r>
              <a:rPr lang="en-US" sz="1600" dirty="0"/>
              <a:t>Feature Extraction: CNN extracts visual features from video frames.</a:t>
            </a:r>
          </a:p>
          <a:p>
            <a:pPr marL="342900" indent="-342900">
              <a:buAutoNum type="arabicParenR"/>
            </a:pPr>
            <a:r>
              <a:rPr lang="en-US" sz="1600" dirty="0"/>
              <a:t>Sequence Modeling: A RNN or transformer encodes temporal dependencies between frames.</a:t>
            </a:r>
          </a:p>
          <a:p>
            <a:pPr marL="342900" indent="-342900">
              <a:buAutoNum type="arabicParenR"/>
            </a:pPr>
            <a:r>
              <a:rPr lang="en-US" sz="1600" dirty="0"/>
              <a:t>Text Generation: A decoder converts extracted features into a coherent sentence.</a:t>
            </a:r>
          </a:p>
        </p:txBody>
      </p:sp>
    </p:spTree>
    <p:extLst>
      <p:ext uri="{BB962C8B-B14F-4D97-AF65-F5344CB8AC3E}">
        <p14:creationId xmlns:p14="http://schemas.microsoft.com/office/powerpoint/2010/main" val="237052218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842FC-DCD2-55E6-2B84-F513F3B63BD6}"/>
              </a:ext>
            </a:extLst>
          </p:cNvPr>
          <p:cNvSpPr>
            <a:spLocks noGrp="1"/>
          </p:cNvSpPr>
          <p:nvPr>
            <p:ph type="title"/>
          </p:nvPr>
        </p:nvSpPr>
        <p:spPr/>
        <p:txBody>
          <a:bodyPr/>
          <a:lstStyle/>
          <a:p>
            <a:pPr algn="ctr"/>
            <a:r>
              <a:rPr lang="en-US" b="1" dirty="0"/>
              <a:t>Virtual Try- On Systems</a:t>
            </a:r>
            <a:br>
              <a:rPr lang="en-US" b="1" dirty="0"/>
            </a:br>
            <a:r>
              <a:rPr lang="en-US" sz="1800" b="1" dirty="0"/>
              <a:t>(based on GAN)</a:t>
            </a:r>
            <a:endParaRPr lang="en-IN" sz="1800" b="1" dirty="0"/>
          </a:p>
        </p:txBody>
      </p:sp>
      <p:sp>
        <p:nvSpPr>
          <p:cNvPr id="3" name="Text Placeholder 2">
            <a:extLst>
              <a:ext uri="{FF2B5EF4-FFF2-40B4-BE49-F238E27FC236}">
                <a16:creationId xmlns:a16="http://schemas.microsoft.com/office/drawing/2014/main" id="{1FAC3EE0-E62B-8BD2-062D-F41663E0600C}"/>
              </a:ext>
            </a:extLst>
          </p:cNvPr>
          <p:cNvSpPr>
            <a:spLocks noGrp="1"/>
          </p:cNvSpPr>
          <p:nvPr>
            <p:ph type="body" sz="half" idx="2"/>
          </p:nvPr>
        </p:nvSpPr>
        <p:spPr/>
        <p:txBody>
          <a:bodyPr/>
          <a:lstStyle/>
          <a:p>
            <a:r>
              <a:rPr lang="en-US" b="1" dirty="0"/>
              <a:t>Problem:</a:t>
            </a:r>
            <a:r>
              <a:rPr lang="en-US" dirty="0"/>
              <a:t> Online shoppers often struggle with </a:t>
            </a:r>
            <a:r>
              <a:rPr lang="en-US" b="1" dirty="0"/>
              <a:t>size, fit, appearance</a:t>
            </a:r>
            <a:r>
              <a:rPr lang="en-US" dirty="0"/>
              <a:t>, when buying clothing. Traditional online shopping relies on static images, leading to uncertain purchases and high return rates. </a:t>
            </a:r>
            <a:endParaRPr lang="en-IN" dirty="0"/>
          </a:p>
        </p:txBody>
      </p:sp>
    </p:spTree>
    <p:extLst>
      <p:ext uri="{BB962C8B-B14F-4D97-AF65-F5344CB8AC3E}">
        <p14:creationId xmlns:p14="http://schemas.microsoft.com/office/powerpoint/2010/main" val="401768372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8F830-3B91-C564-A228-BA35C49DD1B5}"/>
              </a:ext>
            </a:extLst>
          </p:cNvPr>
          <p:cNvSpPr>
            <a:spLocks noGrp="1"/>
          </p:cNvSpPr>
          <p:nvPr>
            <p:ph type="title"/>
          </p:nvPr>
        </p:nvSpPr>
        <p:spPr>
          <a:xfrm>
            <a:off x="787782" y="690717"/>
            <a:ext cx="2712590" cy="776748"/>
          </a:xfrm>
        </p:spPr>
        <p:txBody>
          <a:bodyPr/>
          <a:lstStyle/>
          <a:p>
            <a:r>
              <a:rPr lang="en-US" dirty="0"/>
              <a:t>TECHNOLOGY INVOLVED</a:t>
            </a:r>
            <a:endParaRPr lang="en-IN" dirty="0"/>
          </a:p>
        </p:txBody>
      </p:sp>
      <p:sp>
        <p:nvSpPr>
          <p:cNvPr id="4" name="Text Placeholder 3">
            <a:extLst>
              <a:ext uri="{FF2B5EF4-FFF2-40B4-BE49-F238E27FC236}">
                <a16:creationId xmlns:a16="http://schemas.microsoft.com/office/drawing/2014/main" id="{5D12C051-E212-F18E-5522-167AD95B05A6}"/>
              </a:ext>
            </a:extLst>
          </p:cNvPr>
          <p:cNvSpPr>
            <a:spLocks noGrp="1"/>
          </p:cNvSpPr>
          <p:nvPr>
            <p:ph type="body" sz="half" idx="2"/>
          </p:nvPr>
        </p:nvSpPr>
        <p:spPr>
          <a:xfrm>
            <a:off x="866441" y="1720645"/>
            <a:ext cx="2712589" cy="4299901"/>
          </a:xfrm>
        </p:spPr>
        <p:txBody>
          <a:bodyPr>
            <a:noAutofit/>
          </a:bodyPr>
          <a:lstStyle/>
          <a:p>
            <a:pPr marL="285750" indent="-285750">
              <a:buFont typeface="Arial" panose="020B0604020202020204" pitchFamily="34" charset="0"/>
              <a:buChar char="•"/>
            </a:pPr>
            <a:r>
              <a:rPr lang="en-US" sz="1800" dirty="0"/>
              <a:t>CNN: Extract key clothing features.</a:t>
            </a:r>
          </a:p>
          <a:p>
            <a:pPr marL="285750" indent="-285750">
              <a:buFont typeface="Arial" panose="020B0604020202020204" pitchFamily="34" charset="0"/>
              <a:buChar char="•"/>
            </a:pPr>
            <a:r>
              <a:rPr lang="en-US" sz="1800" dirty="0"/>
              <a:t>GANs: Synthesis realistic clothing textures.</a:t>
            </a:r>
          </a:p>
          <a:p>
            <a:pPr marL="285750" indent="-285750">
              <a:buFont typeface="Arial" panose="020B0604020202020204" pitchFamily="34" charset="0"/>
              <a:buChar char="•"/>
            </a:pPr>
            <a:r>
              <a:rPr lang="en-US" sz="1800" dirty="0"/>
              <a:t>Pose Estimation Networks: Identify human body positions for accurate fitting.</a:t>
            </a:r>
          </a:p>
          <a:p>
            <a:pPr marL="285750" indent="-285750">
              <a:buFont typeface="Arial" panose="020B0604020202020204" pitchFamily="34" charset="0"/>
              <a:buChar char="•"/>
            </a:pPr>
            <a:r>
              <a:rPr lang="en-US" sz="1800" dirty="0"/>
              <a:t>3D Mesh Reconstruction: Maps clothing onto avatars realistically.</a:t>
            </a:r>
            <a:endParaRPr lang="en-IN" sz="1800" dirty="0"/>
          </a:p>
        </p:txBody>
      </p:sp>
      <p:sp>
        <p:nvSpPr>
          <p:cNvPr id="5" name="Scroll: Vertical 4">
            <a:extLst>
              <a:ext uri="{FF2B5EF4-FFF2-40B4-BE49-F238E27FC236}">
                <a16:creationId xmlns:a16="http://schemas.microsoft.com/office/drawing/2014/main" id="{02FF20D5-95E2-95E0-1629-AEA2815FC5CC}"/>
              </a:ext>
            </a:extLst>
          </p:cNvPr>
          <p:cNvSpPr/>
          <p:nvPr/>
        </p:nvSpPr>
        <p:spPr>
          <a:xfrm>
            <a:off x="4572000" y="666136"/>
            <a:ext cx="2949677" cy="2753032"/>
          </a:xfrm>
          <a:prstGeom prst="verticalScroll">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t>CHALLENGES</a:t>
            </a:r>
          </a:p>
          <a:p>
            <a:pPr marL="285750" indent="-285750" algn="ctr">
              <a:buFont typeface="Arial" panose="020B0604020202020204" pitchFamily="34" charset="0"/>
              <a:buChar char="•"/>
            </a:pPr>
            <a:r>
              <a:rPr lang="en-US" dirty="0"/>
              <a:t>Accurate body shape detection</a:t>
            </a:r>
          </a:p>
          <a:p>
            <a:pPr marL="285750" indent="-285750" algn="ctr">
              <a:buFont typeface="Arial" panose="020B0604020202020204" pitchFamily="34" charset="0"/>
              <a:buChar char="•"/>
            </a:pPr>
            <a:r>
              <a:rPr lang="en-US" dirty="0"/>
              <a:t>Realistic fabric simulation</a:t>
            </a:r>
          </a:p>
          <a:p>
            <a:pPr marL="285750" indent="-285750" algn="ctr">
              <a:buFont typeface="Arial" panose="020B0604020202020204" pitchFamily="34" charset="0"/>
              <a:buChar char="•"/>
            </a:pPr>
            <a:r>
              <a:rPr lang="en-US" dirty="0"/>
              <a:t>Data privacy concerns </a:t>
            </a:r>
            <a:endParaRPr lang="en-IN" dirty="0"/>
          </a:p>
        </p:txBody>
      </p:sp>
      <p:sp>
        <p:nvSpPr>
          <p:cNvPr id="6" name="Scroll: Horizontal 5">
            <a:extLst>
              <a:ext uri="{FF2B5EF4-FFF2-40B4-BE49-F238E27FC236}">
                <a16:creationId xmlns:a16="http://schemas.microsoft.com/office/drawing/2014/main" id="{2D927642-509E-7F02-8C94-FFA0F96AE95B}"/>
              </a:ext>
            </a:extLst>
          </p:cNvPr>
          <p:cNvSpPr/>
          <p:nvPr/>
        </p:nvSpPr>
        <p:spPr>
          <a:xfrm>
            <a:off x="4572000" y="3716594"/>
            <a:ext cx="4159045" cy="2998838"/>
          </a:xfrm>
          <a:prstGeom prst="horizontalScroll">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t>FUTURE ADVANCEMENTS</a:t>
            </a:r>
          </a:p>
          <a:p>
            <a:pPr marL="285750" indent="-285750" algn="ctr">
              <a:buFont typeface="Arial" panose="020B0604020202020204" pitchFamily="34" charset="0"/>
              <a:buChar char="•"/>
            </a:pPr>
            <a:r>
              <a:rPr lang="en-US" dirty="0"/>
              <a:t>AR Integration</a:t>
            </a:r>
          </a:p>
          <a:p>
            <a:pPr marL="285750" indent="-285750" algn="ctr">
              <a:buFont typeface="Arial" panose="020B0604020202020204" pitchFamily="34" charset="0"/>
              <a:buChar char="•"/>
            </a:pPr>
            <a:r>
              <a:rPr lang="en-US" dirty="0"/>
              <a:t>AI Generated personalized recommendation</a:t>
            </a:r>
          </a:p>
          <a:p>
            <a:pPr marL="285750" indent="-285750" algn="ctr">
              <a:buFont typeface="Arial" panose="020B0604020202020204" pitchFamily="34" charset="0"/>
              <a:buChar char="•"/>
            </a:pPr>
            <a:r>
              <a:rPr lang="en-US" dirty="0"/>
              <a:t>Blockchain Based Secure Data Storage</a:t>
            </a:r>
          </a:p>
          <a:p>
            <a:pPr marL="285750" indent="-285750" algn="ctr">
              <a:buFont typeface="Arial" panose="020B0604020202020204" pitchFamily="34" charset="0"/>
              <a:buChar char="•"/>
            </a:pPr>
            <a:r>
              <a:rPr lang="en-US" dirty="0"/>
              <a:t>Multi- angle try- on</a:t>
            </a:r>
            <a:endParaRPr lang="en-IN" dirty="0"/>
          </a:p>
        </p:txBody>
      </p:sp>
    </p:spTree>
    <p:extLst>
      <p:ext uri="{BB962C8B-B14F-4D97-AF65-F5344CB8AC3E}">
        <p14:creationId xmlns:p14="http://schemas.microsoft.com/office/powerpoint/2010/main" val="300051572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Neural Networks</a:t>
            </a:r>
          </a:p>
        </p:txBody>
      </p:sp>
      <p:grpSp>
        <p:nvGrpSpPr>
          <p:cNvPr id="10" name="Group 9">
            <a:extLst>
              <a:ext uri="{FF2B5EF4-FFF2-40B4-BE49-F238E27FC236}">
                <a16:creationId xmlns:a16="http://schemas.microsoft.com/office/drawing/2014/main" id="{30AD7F72-F8FA-D39B-6A56-B9C329C149F0}"/>
              </a:ext>
            </a:extLst>
          </p:cNvPr>
          <p:cNvGrpSpPr/>
          <p:nvPr/>
        </p:nvGrpSpPr>
        <p:grpSpPr>
          <a:xfrm>
            <a:off x="671782" y="2123768"/>
            <a:ext cx="7710218" cy="4493342"/>
            <a:chOff x="671782" y="1979149"/>
            <a:chExt cx="5840778" cy="4725247"/>
          </a:xfrm>
        </p:grpSpPr>
        <p:graphicFrame>
          <p:nvGraphicFramePr>
            <p:cNvPr id="8" name="Diagram 7">
              <a:extLst>
                <a:ext uri="{FF2B5EF4-FFF2-40B4-BE49-F238E27FC236}">
                  <a16:creationId xmlns:a16="http://schemas.microsoft.com/office/drawing/2014/main" id="{05280535-223F-ACE9-A930-BF2142DB617A}"/>
                </a:ext>
              </a:extLst>
            </p:cNvPr>
            <p:cNvGraphicFramePr/>
            <p:nvPr>
              <p:extLst>
                <p:ext uri="{D42A27DB-BD31-4B8C-83A1-F6EECF244321}">
                  <p14:modId xmlns:p14="http://schemas.microsoft.com/office/powerpoint/2010/main" val="254912872"/>
                </p:ext>
              </p:extLst>
            </p:nvPr>
          </p:nvGraphicFramePr>
          <p:xfrm>
            <a:off x="671782" y="1979149"/>
            <a:ext cx="5840778" cy="2450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5A50783A-01D4-CFFE-07A1-8B482DD93CCF}"/>
                </a:ext>
              </a:extLst>
            </p:cNvPr>
            <p:cNvGraphicFramePr/>
            <p:nvPr>
              <p:extLst>
                <p:ext uri="{D42A27DB-BD31-4B8C-83A1-F6EECF244321}">
                  <p14:modId xmlns:p14="http://schemas.microsoft.com/office/powerpoint/2010/main" val="1771596041"/>
                </p:ext>
              </p:extLst>
            </p:nvPr>
          </p:nvGraphicFramePr>
          <p:xfrm>
            <a:off x="671782" y="4253786"/>
            <a:ext cx="5840778" cy="24506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Neural Networks?</a:t>
            </a:r>
          </a:p>
        </p:txBody>
      </p:sp>
      <p:sp>
        <p:nvSpPr>
          <p:cNvPr id="4" name="Rectangle 1">
            <a:extLst>
              <a:ext uri="{FF2B5EF4-FFF2-40B4-BE49-F238E27FC236}">
                <a16:creationId xmlns:a16="http://schemas.microsoft.com/office/drawing/2014/main" id="{BB9BDAD3-BBD7-48C8-02AA-652EE5A4A9DF}"/>
              </a:ext>
            </a:extLst>
          </p:cNvPr>
          <p:cNvSpPr>
            <a:spLocks noChangeArrowheads="1"/>
          </p:cNvSpPr>
          <p:nvPr/>
        </p:nvSpPr>
        <p:spPr bwMode="auto">
          <a:xfrm rot="10800000" flipV="1">
            <a:off x="693420" y="2514582"/>
            <a:ext cx="77571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Handle Complex Data:</a:t>
            </a:r>
            <a:r>
              <a:rPr kumimoji="0" lang="en-US" altLang="en-US" sz="1800" b="0" i="0" u="none" strike="noStrike" cap="none" normalizeH="0" baseline="0" dirty="0">
                <a:ln>
                  <a:noFill/>
                </a:ln>
                <a:solidFill>
                  <a:schemeClr val="tx1"/>
                </a:solidFill>
                <a:effectLst/>
                <a:latin typeface="Arial" panose="020B0604020202020204" pitchFamily="34" charset="0"/>
              </a:rPr>
              <a:t> They excel at processing large and complex datasets, such as images, text, and audio, making them ideal for tasks like image recognition, natural language processing, and speech recognition.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Learn Patterns Automatically:</a:t>
            </a:r>
            <a:r>
              <a:rPr kumimoji="0" lang="en-US" altLang="en-US" sz="1800" b="0" i="0" u="none" strike="noStrike" cap="none" normalizeH="0" baseline="0" dirty="0">
                <a:ln>
                  <a:noFill/>
                </a:ln>
                <a:solidFill>
                  <a:schemeClr val="tx1"/>
                </a:solidFill>
                <a:effectLst/>
                <a:latin typeface="Arial" panose="020B0604020202020204" pitchFamily="34" charset="0"/>
              </a:rPr>
              <a:t> Neural networks can automatically learn patterns and features from raw data, eliminating the need for manual feature extraction.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Adaptability:</a:t>
            </a:r>
            <a:r>
              <a:rPr kumimoji="0" lang="en-US" altLang="en-US" sz="1800" b="0" i="0" u="none" strike="noStrike" cap="none" normalizeH="0" baseline="0" dirty="0">
                <a:ln>
                  <a:noFill/>
                </a:ln>
                <a:solidFill>
                  <a:schemeClr val="tx1"/>
                </a:solidFill>
                <a:effectLst/>
                <a:latin typeface="Arial" panose="020B0604020202020204" pitchFamily="34" charset="0"/>
              </a:rPr>
              <a:t> They can be trained to improve over time, adapting to new data and changing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Non-Linearity:</a:t>
            </a:r>
            <a:r>
              <a:rPr kumimoji="0" lang="en-US" altLang="en-US" sz="1800" b="0" i="0" u="none" strike="noStrike" cap="none" normalizeH="0" baseline="0" dirty="0">
                <a:ln>
                  <a:noFill/>
                </a:ln>
                <a:solidFill>
                  <a:schemeClr val="tx1"/>
                </a:solidFill>
                <a:effectLst/>
                <a:latin typeface="Arial" panose="020B0604020202020204" pitchFamily="34" charset="0"/>
              </a:rPr>
              <a:t> Neural networks can model non-linear relationships, which many traditional algorithms can't handle.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Versatility:</a:t>
            </a:r>
            <a:r>
              <a:rPr kumimoji="0" lang="en-US" altLang="en-US" sz="1800" b="0" i="0" u="none" strike="noStrike" cap="none" normalizeH="0" baseline="0" dirty="0">
                <a:ln>
                  <a:noFill/>
                </a:ln>
                <a:solidFill>
                  <a:schemeClr val="tx1"/>
                </a:solidFill>
                <a:effectLst/>
                <a:latin typeface="Arial" panose="020B0604020202020204" pitchFamily="34" charset="0"/>
              </a:rPr>
              <a:t> They are highly flexible and can be used for various tasks, including classification, regression, and generation of new data.</a:t>
            </a: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Applications</a:t>
            </a:r>
            <a:r>
              <a:rPr lang="en-US" dirty="0"/>
              <a:t> of Neural Network</a:t>
            </a:r>
            <a:endParaRPr dirty="0"/>
          </a:p>
        </p:txBody>
      </p:sp>
      <p:graphicFrame>
        <p:nvGraphicFramePr>
          <p:cNvPr id="5" name="Diagram 4">
            <a:extLst>
              <a:ext uri="{FF2B5EF4-FFF2-40B4-BE49-F238E27FC236}">
                <a16:creationId xmlns:a16="http://schemas.microsoft.com/office/drawing/2014/main" id="{F212FF01-3375-558C-315F-5D26DFBA7900}"/>
              </a:ext>
            </a:extLst>
          </p:cNvPr>
          <p:cNvGraphicFramePr/>
          <p:nvPr>
            <p:extLst>
              <p:ext uri="{D42A27DB-BD31-4B8C-83A1-F6EECF244321}">
                <p14:modId xmlns:p14="http://schemas.microsoft.com/office/powerpoint/2010/main" val="1000743093"/>
              </p:ext>
            </p:extLst>
          </p:nvPr>
        </p:nvGraphicFramePr>
        <p:xfrm>
          <a:off x="497840" y="2473960"/>
          <a:ext cx="798576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of Neural Networks</a:t>
            </a:r>
          </a:p>
        </p:txBody>
      </p:sp>
      <p:sp>
        <p:nvSpPr>
          <p:cNvPr id="9" name="Rectangle 1">
            <a:extLst>
              <a:ext uri="{FF2B5EF4-FFF2-40B4-BE49-F238E27FC236}">
                <a16:creationId xmlns:a16="http://schemas.microsoft.com/office/drawing/2014/main" id="{FB512978-22B5-C32C-88EC-B983F59849E3}"/>
              </a:ext>
            </a:extLst>
          </p:cNvPr>
          <p:cNvSpPr>
            <a:spLocks noChangeArrowheads="1"/>
          </p:cNvSpPr>
          <p:nvPr/>
        </p:nvSpPr>
        <p:spPr bwMode="auto">
          <a:xfrm>
            <a:off x="865970" y="2410381"/>
            <a:ext cx="748792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Faster, More Efficient Models</a:t>
            </a:r>
            <a:r>
              <a:rPr kumimoji="0" lang="en-US" altLang="en-US" sz="1800" b="0" i="0" u="none" strike="noStrike" cap="none" normalizeH="0" baseline="0">
                <a:ln>
                  <a:noFill/>
                </a:ln>
                <a:solidFill>
                  <a:schemeClr val="tx1"/>
                </a:solidFill>
                <a:effectLst/>
                <a:latin typeface="Arial" panose="020B0604020202020204" pitchFamily="34" charset="0"/>
              </a:rPr>
              <a:t>: Advancements in hardware (e.g., quantum computing, AI chips) will enable faster, more efficient neural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Reduced Data Dependency</a:t>
            </a:r>
            <a:r>
              <a:rPr kumimoji="0" lang="en-US" altLang="en-US" sz="1800" b="0" i="0" u="none" strike="noStrike" cap="none" normalizeH="0" baseline="0">
                <a:ln>
                  <a:noFill/>
                </a:ln>
                <a:solidFill>
                  <a:schemeClr val="tx1"/>
                </a:solidFill>
                <a:effectLst/>
                <a:latin typeface="Arial" panose="020B0604020202020204" pitchFamily="34" charset="0"/>
              </a:rPr>
              <a:t>: Techniques like transfer learning and few-shot learning will minimize the need for large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Better Explainability</a:t>
            </a:r>
            <a:r>
              <a:rPr kumimoji="0" lang="en-US" altLang="en-US" sz="1800" b="0" i="0" u="none" strike="noStrike" cap="none" normalizeH="0" baseline="0">
                <a:ln>
                  <a:noFill/>
                </a:ln>
                <a:solidFill>
                  <a:schemeClr val="tx1"/>
                </a:solidFill>
                <a:effectLst/>
                <a:latin typeface="Arial" panose="020B0604020202020204" pitchFamily="34" charset="0"/>
              </a:rPr>
              <a:t>: Improved methods for explainable AI will make neural networks more transparent and trustworthy.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Ethical AI Frameworks</a:t>
            </a:r>
            <a:r>
              <a:rPr kumimoji="0" lang="en-US" altLang="en-US" sz="1800" b="0" i="0" u="none" strike="noStrike" cap="none" normalizeH="0" baseline="0">
                <a:ln>
                  <a:noFill/>
                </a:ln>
                <a:solidFill>
                  <a:schemeClr val="tx1"/>
                </a:solidFill>
                <a:effectLst/>
                <a:latin typeface="Arial" panose="020B0604020202020204" pitchFamily="34" charset="0"/>
              </a:rPr>
              <a:t>: Stronger ethical guidelines will ensure responsible and fair use of neural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Wider Industry Applications</a:t>
            </a:r>
            <a:r>
              <a:rPr kumimoji="0" lang="en-US" altLang="en-US" sz="1800" b="0" i="0" u="none" strike="noStrike" cap="none" normalizeH="0" baseline="0">
                <a:ln>
                  <a:noFill/>
                </a:ln>
                <a:solidFill>
                  <a:schemeClr val="tx1"/>
                </a:solidFill>
                <a:effectLst/>
                <a:latin typeface="Arial" panose="020B0604020202020204" pitchFamily="34" charset="0"/>
              </a:rPr>
              <a:t>: Neural networks will continue transforming healthcare, robotics, finance, and autonomous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Overcoming Biases and Challenges</a:t>
            </a:r>
            <a:r>
              <a:rPr kumimoji="0" lang="en-US" altLang="en-US" sz="1800" b="0" i="0" u="none" strike="noStrike" cap="none" normalizeH="0" baseline="0">
                <a:ln>
                  <a:noFill/>
                </a:ln>
                <a:solidFill>
                  <a:schemeClr val="tx1"/>
                </a:solidFill>
                <a:effectLst/>
                <a:latin typeface="Arial" panose="020B0604020202020204" pitchFamily="34" charset="0"/>
              </a:rPr>
              <a:t>: Ongoing research will address issues like data bias and model interpretability.</a:t>
            </a: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864382" y="2489200"/>
            <a:ext cx="7233138" cy="3530600"/>
          </a:xfrm>
        </p:spPr>
        <p:txBody>
          <a:bodyPr/>
          <a:lstStyle/>
          <a:p>
            <a:r>
              <a:rPr lang="en-US" dirty="0"/>
              <a:t>Neural networks have revolutionized fields like computer vision, natural language processing, and autonomous systems, offering unprecedented capabilities in learning from data. Despite challenges like computational demands and ethical concerns, ongoing advancements in AI models, hardware, and explainability are shaping a promising future. As neural networks continue to evolve, they will drive innovation across industries, creating smarter, more efficient technologies while addressing societal challenges responsibly.</a:t>
            </a:r>
            <a:endParaRPr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BD08-28F6-120F-D3E4-BE82DB64178D}"/>
              </a:ext>
            </a:extLst>
          </p:cNvPr>
          <p:cNvSpPr>
            <a:spLocks noGrp="1"/>
          </p:cNvSpPr>
          <p:nvPr>
            <p:ph type="title"/>
          </p:nvPr>
        </p:nvSpPr>
        <p:spPr>
          <a:xfrm>
            <a:off x="551480" y="5069840"/>
            <a:ext cx="4853639" cy="1287780"/>
          </a:xfrm>
        </p:spPr>
        <p:txBody>
          <a:bodyPr/>
          <a:lstStyle/>
          <a:p>
            <a:r>
              <a:rPr lang="en-US" sz="6600" dirty="0">
                <a:solidFill>
                  <a:schemeClr val="accent1">
                    <a:lumMod val="75000"/>
                  </a:schemeClr>
                </a:solidFill>
              </a:rPr>
              <a:t>Thank You</a:t>
            </a:r>
            <a:endParaRPr lang="en-IN" sz="6600" dirty="0">
              <a:solidFill>
                <a:schemeClr val="accent1">
                  <a:lumMod val="75000"/>
                </a:schemeClr>
              </a:solidFill>
            </a:endParaRPr>
          </a:p>
        </p:txBody>
      </p:sp>
    </p:spTree>
    <p:extLst>
      <p:ext uri="{BB962C8B-B14F-4D97-AF65-F5344CB8AC3E}">
        <p14:creationId xmlns:p14="http://schemas.microsoft.com/office/powerpoint/2010/main" val="38583060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265</TotalTime>
  <Words>1797</Words>
  <Application>Microsoft Office PowerPoint</Application>
  <PresentationFormat>On-screen Show (4:3)</PresentationFormat>
  <Paragraphs>170</Paragraphs>
  <Slides>21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Wingdings</vt:lpstr>
      <vt:lpstr>Wingdings 3</vt:lpstr>
      <vt:lpstr>Ion Boardroom</vt:lpstr>
      <vt:lpstr>Neural Networks: The Backbone of Artificial Intelligence</vt:lpstr>
      <vt:lpstr>Introduction to Neural Networks</vt:lpstr>
      <vt:lpstr>Evolution of Neural Network</vt:lpstr>
      <vt:lpstr>How Neural Networks Works?</vt:lpstr>
      <vt:lpstr>Types of Neural Networks</vt:lpstr>
      <vt:lpstr>Types of Neural Networks(Cont.)</vt:lpstr>
      <vt:lpstr>Training a Neural Network</vt:lpstr>
      <vt:lpstr>Automated Grading System (based on FNN)</vt:lpstr>
      <vt:lpstr>Methodology</vt:lpstr>
      <vt:lpstr>Breast Cancer Detection and Treatment (based on CNN)</vt:lpstr>
      <vt:lpstr>Methodology</vt:lpstr>
      <vt:lpstr>VIDEO CAPTIONING (based on RNN)</vt:lpstr>
      <vt:lpstr>Seq2Seq model with CNN- RNN Architecture</vt:lpstr>
      <vt:lpstr>Virtual Try- On Systems (based on GAN)</vt:lpstr>
      <vt:lpstr>TECHNOLOGY INVOLVED</vt:lpstr>
      <vt:lpstr>Challenges in Neural Networks</vt:lpstr>
      <vt:lpstr>Why Use Neural Networks?</vt:lpstr>
      <vt:lpstr>Applications of Neural Network</vt:lpstr>
      <vt:lpstr>Future of Neural Networks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Tarinee Tarinee</cp:lastModifiedBy>
  <cp:revision>5</cp:revision>
  <dcterms:created xsi:type="dcterms:W3CDTF">2013-01-27T09:14:16Z</dcterms:created>
  <dcterms:modified xsi:type="dcterms:W3CDTF">2025-02-19T15:44:12Z</dcterms:modified>
  <cp:category/>
</cp:coreProperties>
</file>