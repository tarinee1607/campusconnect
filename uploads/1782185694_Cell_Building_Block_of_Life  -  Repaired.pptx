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7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5535" autoAdjust="0"/>
  </p:normalViewPr>
  <p:slideViewPr>
    <p:cSldViewPr snapToGrid="0" snapToObjects="1">
      <p:cViewPr>
        <p:scale>
          <a:sx n="100" d="100"/>
          <a:sy n="100" d="100"/>
        </p:scale>
        <p:origin x="85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858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914400"/>
            <a:ext cx="3657600" cy="36576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4320"/>
            <a:ext cx="2926080" cy="457200"/>
          </a:xfrm>
          <a:prstGeom prst="roundRect">
            <a:avLst>
              <a:gd name="adj" fmla="val 30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74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7E8F9"/>
                </a:solidFill>
              </a:rPr>
              <a:t>CLASS 9 SCIENCE  |  CHAPTER 2  |  NCERT 2026–27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noFill/>
          <a:ln/>
          <a:effectLst>
            <a:outerShdw blurRad="381000" dist="50800" dir="8100000" algn="bl" rotWithShape="0">
              <a:srgbClr val="7C3AED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CELL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Building Block of Life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0" y="2926080"/>
            <a:ext cx="4572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108960"/>
            <a:ext cx="1965960" cy="502920"/>
          </a:xfrm>
          <a:prstGeom prst="roundRect">
            <a:avLst>
              <a:gd name="adj" fmla="val 2727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🔬 MICROSCOPY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96312" y="3108960"/>
            <a:ext cx="1965960" cy="502920"/>
          </a:xfrm>
          <a:prstGeom prst="roundRect">
            <a:avLst>
              <a:gd name="adj" fmla="val 2727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🧬 DNA &amp; GENES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3108960"/>
            <a:ext cx="1965960" cy="502920"/>
          </a:xfrm>
          <a:prstGeom prst="roundRect">
            <a:avLst>
              <a:gd name="adj" fmla="val 2727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⚡ CELL ORGANELLES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57416" y="3108960"/>
            <a:ext cx="1965960" cy="502920"/>
          </a:xfrm>
          <a:prstGeom prst="roundRect">
            <a:avLst>
              <a:gd name="adj" fmla="val 2727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57416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🌱 CELL DIVISION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0" dirty="0">
                <a:solidFill>
                  <a:srgbClr val="000000"/>
                </a:solidFill>
              </a:rPr>
              <a:t>🦠</a:t>
            </a:r>
            <a:endParaRPr lang="en-US" sz="5500" dirty="0"/>
          </a:p>
        </p:txBody>
      </p:sp>
      <p:sp>
        <p:nvSpPr>
          <p:cNvPr id="20" name="Text 18"/>
          <p:cNvSpPr/>
          <p:nvPr/>
        </p:nvSpPr>
        <p:spPr>
          <a:xfrm>
            <a:off x="27432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Cells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</a:rPr>
              <a:t>Every living thing is made of cells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120640" cy="594360"/>
          </a:xfrm>
          <a:prstGeom prst="roundRect">
            <a:avLst>
              <a:gd name="adj" fmla="val 23077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344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🔑 Cell is the Structural &amp; Functional Unit of Life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377440" cy="1371600"/>
          </a:xfrm>
          <a:prstGeom prst="roundRect">
            <a:avLst>
              <a:gd name="adj" fmla="val 10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</a:rPr>
              <a:t>Unicellular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Single cell does all life functions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Ex: Amoeba, Bacteria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2011680"/>
            <a:ext cx="2377440" cy="1371600"/>
          </a:xfrm>
          <a:prstGeom prst="roundRect">
            <a:avLst>
              <a:gd name="adj" fmla="val 1000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🧫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6324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</a:rPr>
              <a:t>Multicellular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27249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Millions of cells work together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Ex: Plants, Animals, Humans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731520"/>
            <a:ext cx="3108960" cy="3474720"/>
          </a:xfrm>
          <a:prstGeom prst="roundRect">
            <a:avLst>
              <a:gd name="adj" fmla="val 4412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777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🔍 ZOOM IN...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2560320" cy="45720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Human Body  (1.7 m)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1828800"/>
            <a:ext cx="2395728" cy="457200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1828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🫀 Organ (Heart)  (~12 cm)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9632" y="2423160"/>
            <a:ext cx="2231136" cy="457200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4231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🧱 Tissue  (mm scale)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81928" y="3017520"/>
            <a:ext cx="2066544" cy="4572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30175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🔬 Cell  (10–100 µm)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64224" y="3611880"/>
            <a:ext cx="1901952" cy="457200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36118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🧬 DNA  (2 nm wide)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All organisms — from bacteria to blue whale — are made of cells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Cell carries out metabolism, growth, reproduction &amp; response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 of Life &amp; Hot Springs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Life first emerged in warm, mineral-rich water bodies on early Earth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344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7E8F9"/>
                </a:solidFill>
              </a:rPr>
              <a:t>Early Earth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~4 billion years ago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057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Hot, volcanic, rich in chemicals — perfect for first life forms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♨️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406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7E8F9"/>
                </a:solidFill>
              </a:rPr>
              <a:t>Hot Springs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Hydrothermal vents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057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Warm water with minerals supported first thermophilic bacteria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🏔️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2344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7E8F9"/>
                </a:solidFill>
              </a:rPr>
              <a:t>Puga Valley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456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Ladakh, India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Active geothermal area — real-life example of life in extreme heat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301752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🦠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44068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7E8F9"/>
                </a:solidFill>
              </a:rPr>
              <a:t>Thermophiles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3456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Heat-loving bacteria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3703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Survive 60–80°C! Proof life adapts to extreme environments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384048"/>
          </a:xfrm>
          <a:prstGeom prst="roundRect">
            <a:avLst>
              <a:gd name="adj" fmla="val 3571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KEY INSIGHT: The conditions in hot springs mimic early Earth's primordial soup where life first appeared!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of the Cell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4572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130552"/>
            <a:ext cx="320040" cy="32004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</a:rPr>
              <a:t>1590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Microscope Invented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7E8F9"/>
                </a:solidFill>
              </a:rPr>
              <a:t>Janssen Brothers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130552"/>
            <a:ext cx="320040" cy="32004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1665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0320" y="265176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Cell Discovered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090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7E8F9"/>
                </a:solidFill>
              </a:rPr>
              <a:t>Robert Hooke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2130552"/>
            <a:ext cx="320040" cy="32004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1674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Living Cells Seen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090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7E8F9"/>
                </a:solidFill>
              </a:rPr>
              <a:t>Antonie van Leeuwenhoek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2130552"/>
            <a:ext cx="320040" cy="3200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1839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265176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Cell Theory Proposed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3090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7E8F9"/>
                </a:solidFill>
              </a:rPr>
              <a:t>Schleiden &amp; Schwann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🔬  Robert Hooke (1665) — observed thin slices of cork under a microscope and named the tiny compartments "CELLS" (from Latin 'cellula' = small room)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3192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🪵</a:t>
            </a:r>
            <a:endParaRPr lang="en-US" sz="5500" dirty="0"/>
          </a:p>
        </p:txBody>
      </p:sp>
      <p:sp>
        <p:nvSpPr>
          <p:cNvPr id="30" name="Text 28"/>
          <p:cNvSpPr/>
          <p:nvPr/>
        </p:nvSpPr>
        <p:spPr>
          <a:xfrm>
            <a:off x="2926080" y="1691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Cork cells look like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honeycomb boxes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 &amp; Resolution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143000"/>
          </a:xfrm>
          <a:prstGeom prst="roundRect">
            <a:avLst>
              <a:gd name="adj" fmla="val 12000"/>
            </a:avLst>
          </a:prstGeom>
          <a:solidFill>
            <a:srgbClr val="94A3B8">
              <a:alpha val="18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👁️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Human Eye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</a:rPr>
              <a:t>Resolution: 0.1 mm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(100 µm)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1234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Cannot see individual cells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920240"/>
            <a:ext cx="75438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920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Magnification: 10x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1143000"/>
          </a:xfrm>
          <a:prstGeom prst="roundRect">
            <a:avLst>
              <a:gd name="adj" fmla="val 1200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3317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💡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3258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Light Microscope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2715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</a:rPr>
              <a:t>Resolution: 200 nm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971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(0.2 µm)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2468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See cells &amp; large organelles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23360" y="3154680"/>
            <a:ext cx="276606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154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Magnification: 1,000x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8412480" cy="1143000"/>
          </a:xfrm>
          <a:prstGeom prst="roundRect">
            <a:avLst>
              <a:gd name="adj" fmla="val 12000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56616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⚡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132588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Electron Microscope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</a:rPr>
              <a:t>Resolution: 0.2 nm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(0.0002 µm)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3703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See viruses, DNA, proteins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23360" y="4389120"/>
            <a:ext cx="427482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43891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Magnification: 500,000x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7E8F9"/>
                </a:solidFill>
              </a:rPr>
              <a:t>💡 Resolution = ability to distinguish two nearby points as separate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of a Light Microscope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0" y="685800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A855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188720"/>
            <a:ext cx="36576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2402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788920"/>
            <a:ext cx="2103120" cy="365760"/>
          </a:xfrm>
          <a:prstGeom prst="rect">
            <a:avLst/>
          </a:prstGeom>
          <a:solidFill>
            <a:srgbClr val="818C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3154680"/>
            <a:ext cx="274320" cy="1371600"/>
          </a:xfrm>
          <a:prstGeom prst="rect">
            <a:avLst/>
          </a:prstGeom>
          <a:solidFill>
            <a:srgbClr val="131B4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43484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131B4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246120"/>
            <a:ext cx="640080" cy="457200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560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9718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731520"/>
            <a:ext cx="3017520" cy="594360"/>
          </a:xfrm>
          <a:prstGeom prst="roundRect">
            <a:avLst>
              <a:gd name="adj" fmla="val 2307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16752" y="7589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👁️ Eyepiece (Ocular Lens)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752" y="10241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You look through here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Magnifies 10x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0" y="1024128"/>
            <a:ext cx="0" cy="0"/>
          </a:xfrm>
          <a:prstGeom prst="line">
            <a:avLst/>
          </a:prstGeom>
          <a:noFill/>
          <a:ln w="9525">
            <a:solidFill>
              <a:srgbClr val="67E8F9">
                <a:alpha val="5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943600" y="1417320"/>
            <a:ext cx="3017520" cy="594360"/>
          </a:xfrm>
          <a:prstGeom prst="roundRect">
            <a:avLst>
              <a:gd name="adj" fmla="val 2307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16752" y="14447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🔧 Body Tube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16752" y="17099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Connects eyepiece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 objective lens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1709928"/>
            <a:ext cx="0" cy="0"/>
          </a:xfrm>
          <a:prstGeom prst="line">
            <a:avLst/>
          </a:prstGeom>
          <a:noFill/>
          <a:ln w="9525">
            <a:solidFill>
              <a:srgbClr val="67E8F9">
                <a:alpha val="50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0" y="2103120"/>
            <a:ext cx="3017520" cy="594360"/>
          </a:xfrm>
          <a:prstGeom prst="roundRect">
            <a:avLst>
              <a:gd name="adj" fmla="val 2307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16752" y="21305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🎯 Objective Lens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16752" y="23957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4x, 10x, 40x, 100x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Primary magnification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2395728"/>
            <a:ext cx="0" cy="0"/>
          </a:xfrm>
          <a:prstGeom prst="line">
            <a:avLst/>
          </a:prstGeom>
          <a:noFill/>
          <a:ln w="9525">
            <a:solidFill>
              <a:srgbClr val="67E8F9">
                <a:alpha val="50000"/>
              </a:srgbClr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943600" y="2788920"/>
            <a:ext cx="3017520" cy="594360"/>
          </a:xfrm>
          <a:prstGeom prst="roundRect">
            <a:avLst>
              <a:gd name="adj" fmla="val 2307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16752" y="28163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📋 Stage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16752" y="30815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Holds the glass slide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with specimen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3081528"/>
            <a:ext cx="0" cy="0"/>
          </a:xfrm>
          <a:prstGeom prst="line">
            <a:avLst/>
          </a:prstGeom>
          <a:noFill/>
          <a:ln w="9525">
            <a:solidFill>
              <a:srgbClr val="67E8F9">
                <a:alpha val="50000"/>
              </a:srgbClr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943600" y="3474720"/>
            <a:ext cx="3017520" cy="594360"/>
          </a:xfrm>
          <a:prstGeom prst="roundRect">
            <a:avLst>
              <a:gd name="adj" fmla="val 2307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16752" y="35021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🪞 Mirror/Light Source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16752" y="37673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Directs light through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the specimen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3767328"/>
            <a:ext cx="0" cy="0"/>
          </a:xfrm>
          <a:prstGeom prst="line">
            <a:avLst/>
          </a:prstGeom>
          <a:noFill/>
          <a:ln w="9525">
            <a:solidFill>
              <a:srgbClr val="67E8F9">
                <a:alpha val="50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943600" y="4160520"/>
            <a:ext cx="3017520" cy="594360"/>
          </a:xfrm>
          <a:prstGeom prst="roundRect">
            <a:avLst>
              <a:gd name="adj" fmla="val 2307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16752" y="41879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⚙️ Adjustment Knobs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16752" y="44531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Coarse &amp; fine focus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for sharp image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4453128"/>
            <a:ext cx="0" cy="0"/>
          </a:xfrm>
          <a:prstGeom prst="line">
            <a:avLst/>
          </a:prstGeom>
          <a:noFill/>
          <a:ln w="9525">
            <a:solidFill>
              <a:srgbClr val="67E8F9">
                <a:alpha val="50000"/>
              </a:srgbClr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Estimating Cell Size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🧅 Onion Peel Experiment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023360" cy="868680"/>
          </a:xfrm>
          <a:prstGeom prst="roundRect">
            <a:avLst>
              <a:gd name="adj" fmla="val 15789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2588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1399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673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Peel a thin layer from an onion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868680"/>
          </a:xfrm>
          <a:prstGeom prst="roundRect">
            <a:avLst>
              <a:gd name="adj" fmla="val 15789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32588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40680" y="1399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673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Place on glass slide with water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023360" cy="868680"/>
          </a:xfrm>
          <a:prstGeom prst="roundRect">
            <a:avLst>
              <a:gd name="adj" fmla="val 15789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33172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43000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679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Observe under light microscope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023360" cy="868680"/>
          </a:xfrm>
          <a:prstGeom prst="roundRect">
            <a:avLst>
              <a:gd name="adj" fmla="val 15789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33172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40680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</a:rPr>
              <a:t>Step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679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Count cells across field of 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29000"/>
            <a:ext cx="8412480" cy="1188720"/>
          </a:xfrm>
          <a:prstGeom prst="roundRect">
            <a:avLst>
              <a:gd name="adj" fmla="val 11538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45643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📐 FORMULA TO ESTIMATE CELL SIZE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7280" y="3858768"/>
            <a:ext cx="6949440" cy="621792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67E8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85876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7E8F9"/>
                </a:solidFill>
              </a:rPr>
              <a:t>Estimated Size of Cell  =  Diameter of Field of View  ÷  Number of Cells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💡 Example: Field diameter = 1.5 mm, Cells across = 15  →  Cell size = 1.5 ÷ 15 = 0.1 mm = 100 µm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Theory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606040" cy="2560320"/>
          </a:xfrm>
          <a:prstGeom prst="roundRect">
            <a:avLst>
              <a:gd name="adj" fmla="val 5357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🌿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Matthias Jakob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Schleiden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</a:rPr>
              <a:t>1838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224028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All plants are made of cells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06040" cy="2560320"/>
          </a:xfrm>
          <a:prstGeom prst="roundRect">
            <a:avLst>
              <a:gd name="adj" fmla="val 535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960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🐾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83280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Theodor Schwann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</a:rPr>
              <a:t>1839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395728"/>
            <a:ext cx="224028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4505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All animals are made of cells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606040" cy="2560320"/>
          </a:xfrm>
          <a:prstGeom prst="roundRect">
            <a:avLst>
              <a:gd name="adj" fmla="val 535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960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🔬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17920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Rudolf Virchow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</a:rPr>
              <a:t>1855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395728"/>
            <a:ext cx="224028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4505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Cells arise from pre-existing cells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(Omnis cellula e cellula)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7E8F9"/>
                </a:solidFill>
              </a:rPr>
              <a:t>THREE POSTULATES OF CELL THEORY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31B4D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69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6112" y="4114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All living organisms are composed of one or more cells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40690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31B4D">
              <a:alpha val="7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069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730752" y="4114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The cell is the basic structural and functional unit of life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0690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31B4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069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65392" y="4114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All cells arise from pre-existing cells (biogenesis)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Cells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114800" cy="594360"/>
          </a:xfrm>
          <a:prstGeom prst="roundRect">
            <a:avLst>
              <a:gd name="adj" fmla="val 23077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🦠 PROKARYOTIC CELL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114800" cy="594360"/>
          </a:xfrm>
          <a:prstGeom prst="roundRect">
            <a:avLst>
              <a:gd name="adj" fmla="val 23077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749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🧫 EUKARYOTIC CELL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2926080" cy="32004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63040"/>
            <a:ext cx="210312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463040"/>
            <a:ext cx="2103120" cy="320040"/>
          </a:xfrm>
          <a:prstGeom prst="rect">
            <a:avLst/>
          </a:prstGeom>
          <a:solidFill>
            <a:srgbClr val="06B6D4">
              <a:alpha val="8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Prokaryotic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Eukaryotic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01368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801368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801368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801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Nucleus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801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 true nucleus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(nucleoid region)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1801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True nucleus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with nuclear membrane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76856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76856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276856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2768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22768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0.1–10 µm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(very small)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22768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10–100 µm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(larger)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52344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752344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2752344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752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Membrane organelles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Absent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Present (ER, Golgi, etc.)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227832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3227832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94960" y="3227832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227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DNA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Circular, naked DNA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40680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Linear DNA with histones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703320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703320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0" y="3703320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Cell wall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3756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Present (peptidoglycan)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4068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Present in plants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(cellulose)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178808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4178808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94960" y="4178808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4178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Examples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37560" y="4178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Bacteria, Archaea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40680" y="4178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Plants, Animals,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Fungi, Protists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727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</a:rPr>
              <a:t>💡 Pro = before | Karyon = nucleus      Eu = true | Karyon = nucleus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Membrane (Plasma Membrane)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3657600"/>
          </a:xfrm>
          <a:prstGeom prst="roundRect">
            <a:avLst>
              <a:gd name="adj" fmla="val 375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🧪 FLUID MOSAIC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207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3533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5361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17190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⬅️ OSMOSIS (Water movement)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697480"/>
            <a:ext cx="1645920" cy="1005840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2697480"/>
            <a:ext cx="1645920" cy="100584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72491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Concentration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(Hypotonic)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77440" y="272491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High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Concentration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(Hypertonic)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→→→ H₂O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7673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Semipermeable Membrane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777240"/>
            <a:ext cx="4297680" cy="777240"/>
          </a:xfrm>
          <a:prstGeom prst="roundRect">
            <a:avLst>
              <a:gd name="adj" fmla="val 1764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80467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🔒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5285232" y="804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Selectively Permeable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85232" y="1069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Controls what enters/exits the cell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645920"/>
            <a:ext cx="4297680" cy="777240"/>
          </a:xfrm>
          <a:prstGeom prst="roundRect">
            <a:avLst>
              <a:gd name="adj" fmla="val 1764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16733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🧬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5285232" y="16733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Made of Lipids &amp; Proteins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85232" y="19385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Phospholipid bilayer + embedded proteins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514600"/>
            <a:ext cx="4297680" cy="777240"/>
          </a:xfrm>
          <a:prstGeom prst="roundRect">
            <a:avLst>
              <a:gd name="adj" fmla="val 1764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254203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🌊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5285232" y="2542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Osmosis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285232" y="28072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Water moves from low → high concentration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383280"/>
            <a:ext cx="4297680" cy="777240"/>
          </a:xfrm>
          <a:prstGeom prst="roundRect">
            <a:avLst>
              <a:gd name="adj" fmla="val 1764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63440" y="34107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💨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5285232" y="3410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Diffusion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285232" y="36758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Substances move from high → low concentration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251960"/>
            <a:ext cx="4297680" cy="777240"/>
          </a:xfrm>
          <a:prstGeom prst="roundRect">
            <a:avLst>
              <a:gd name="adj" fmla="val 1764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63440" y="427939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⚡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5285232" y="42793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7E8F9"/>
                </a:solidFill>
              </a:rPr>
              <a:t>Active Transport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285232" y="45445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Moves substances AGAINST concentration gradient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Osmosis Experiment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🥔 Potato Osmosis Experiment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71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💧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HYPOTONIC SOLUTION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Water concentration OUTSIDE &gt; Inside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23317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Result: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649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Cell absorbs water → SWELLS / TURGID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7E8F9"/>
                </a:solidFill>
              </a:rPr>
              <a:t>[Low Salt]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32588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1371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⚖️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337560" y="20848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ISOTONIC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4688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Water concentration EQUAL on both sides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29000" y="3063240"/>
            <a:ext cx="233172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108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Result: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3649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 net movement → Cell STAYS SAME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160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7E8F9"/>
                </a:solidFill>
              </a:rPr>
              <a:t>[Equal Salt]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32588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371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🔥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217920" y="20848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HYPERTONIC SOLUTION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4688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Water concentration INSIDE &gt; Outside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3063240"/>
            <a:ext cx="233172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08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Result: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3649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Cell loses water → SHRINKS / PLASMOLYSIS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160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7E8F9"/>
                </a:solidFill>
              </a:rPr>
              <a:t>[High Salt]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8412480" cy="384048"/>
          </a:xfrm>
          <a:prstGeom prst="roundRect">
            <a:avLst>
              <a:gd name="adj" fmla="val 35714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🌱 In plants: Turgid cell (full water) = firm plant | Flaccid cell (lost water) = wilted plant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Wall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48640"/>
          </a:xfrm>
          <a:prstGeom prst="roundRect">
            <a:avLst>
              <a:gd name="adj" fmla="val 25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🌿 Present ONLY in Plant Cells, Fungi &amp; Bacteria — NOT in Animal Cells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023360" cy="3200400"/>
          </a:xfrm>
          <a:prstGeom prst="roundRect">
            <a:avLst>
              <a:gd name="adj" fmla="val 4286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PLANT CELL DIAGRAM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4206240" cy="822960"/>
          </a:xfrm>
          <a:prstGeom prst="roundRect">
            <a:avLst>
              <a:gd name="adj" fmla="val 16667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4173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40680" y="1490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Made of Cellulose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17647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 tough polysaccharide fiber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that provides rigidity &amp; shape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206240" cy="822960"/>
          </a:xfrm>
          <a:prstGeom prst="roundRect">
            <a:avLst>
              <a:gd name="adj" fmla="val 1666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377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2450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Protective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7249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Outermost layer — protects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cell from physical damage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337560"/>
            <a:ext cx="4206240" cy="822960"/>
          </a:xfrm>
          <a:prstGeom prst="roundRect">
            <a:avLst>
              <a:gd name="adj" fmla="val 16667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3375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💪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40680" y="34107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Provides Shape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6850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Maintains definite shape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 plant cells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4297680"/>
            <a:ext cx="4206240" cy="822960"/>
          </a:xfrm>
          <a:prstGeom prst="roundRect">
            <a:avLst>
              <a:gd name="adj" fmla="val 1666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4297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440680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Freely Permeable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46451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Allows water, gases 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nutrients to pass freely</a:t>
            </a:r>
            <a:endParaRPr lang="en-US" sz="1000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9FCB3D6A-41F7-1EA1-9188-935779277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9447B72-3D09-C737-E049-35CADD5C4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70" y="1901952"/>
            <a:ext cx="3865739" cy="2494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0B05A5-CFC6-86D8-DDF9-A2435C9195AA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492AE-5F70-C0FB-6A81-DE3AA116964B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208A6-D0CC-6D49-93EE-284950110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" y="328612"/>
            <a:ext cx="69818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70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Cell vs Animal Cell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32004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🌱 PLANT CELL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749808"/>
            <a:ext cx="32004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7498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🐾 ANIMAL CELL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solidFill>
            <a:srgbClr val="132040">
              <a:alpha val="8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71600"/>
            <a:ext cx="2011680" cy="411480"/>
          </a:xfrm>
          <a:prstGeom prst="rect">
            <a:avLst/>
          </a:prstGeom>
          <a:solidFill>
            <a:srgbClr val="131B4D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371600"/>
            <a:ext cx="3200400" cy="411480"/>
          </a:xfrm>
          <a:prstGeom prst="rect">
            <a:avLst/>
          </a:prstGeom>
          <a:solidFill>
            <a:srgbClr val="132040">
              <a:alpha val="8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✅ Present (cellulose)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Cell Wall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❌ Absent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10512"/>
            <a:ext cx="3200400" cy="411480"/>
          </a:xfrm>
          <a:prstGeom prst="rect">
            <a:avLst/>
          </a:prstGeom>
          <a:solidFill>
            <a:srgbClr val="0A0E2A">
              <a:alpha val="8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810512"/>
            <a:ext cx="2011680" cy="411480"/>
          </a:xfrm>
          <a:prstGeom prst="rect">
            <a:avLst/>
          </a:prstGeom>
          <a:solidFill>
            <a:srgbClr val="131B4D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810512"/>
            <a:ext cx="3200400" cy="411480"/>
          </a:xfrm>
          <a:prstGeom prst="rect">
            <a:avLst/>
          </a:prstGeom>
          <a:solidFill>
            <a:srgbClr val="0A0E2A">
              <a:alpha val="8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Fixed rectangular shape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18105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Shape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Irregular / round shape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49424"/>
            <a:ext cx="3200400" cy="411480"/>
          </a:xfrm>
          <a:prstGeom prst="rect">
            <a:avLst/>
          </a:prstGeom>
          <a:solidFill>
            <a:srgbClr val="132040">
              <a:alpha val="8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2249424"/>
            <a:ext cx="2011680" cy="411480"/>
          </a:xfrm>
          <a:prstGeom prst="rect">
            <a:avLst/>
          </a:prstGeom>
          <a:solidFill>
            <a:srgbClr val="131B4D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2249424"/>
            <a:ext cx="3200400" cy="411480"/>
          </a:xfrm>
          <a:prstGeom prst="rect">
            <a:avLst/>
          </a:prstGeom>
          <a:solidFill>
            <a:srgbClr val="132040">
              <a:alpha val="8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494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✅ Present (chloroplasts)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22494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Plastids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22494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❌ Absent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688336"/>
            <a:ext cx="3200400" cy="411480"/>
          </a:xfrm>
          <a:prstGeom prst="rect">
            <a:avLst/>
          </a:prstGeom>
          <a:solidFill>
            <a:srgbClr val="0A0E2A">
              <a:alpha val="8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6160" y="2688336"/>
            <a:ext cx="2011680" cy="411480"/>
          </a:xfrm>
          <a:prstGeom prst="rect">
            <a:avLst/>
          </a:prstGeom>
          <a:solidFill>
            <a:srgbClr val="131B4D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2688336"/>
            <a:ext cx="3200400" cy="411480"/>
          </a:xfrm>
          <a:prstGeom prst="rect">
            <a:avLst/>
          </a:prstGeom>
          <a:solidFill>
            <a:srgbClr val="0A0E2A">
              <a:alpha val="8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883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✅ Large central vacuole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26883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Vacuole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26883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Small/absent vacuoles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127248"/>
            <a:ext cx="3200400" cy="411480"/>
          </a:xfrm>
          <a:prstGeom prst="rect">
            <a:avLst/>
          </a:prstGeom>
          <a:solidFill>
            <a:srgbClr val="132040">
              <a:alpha val="8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3127248"/>
            <a:ext cx="2011680" cy="411480"/>
          </a:xfrm>
          <a:prstGeom prst="rect">
            <a:avLst/>
          </a:prstGeom>
          <a:solidFill>
            <a:srgbClr val="131B4D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3127248"/>
            <a:ext cx="3200400" cy="411480"/>
          </a:xfrm>
          <a:prstGeom prst="rect">
            <a:avLst/>
          </a:prstGeom>
          <a:solidFill>
            <a:srgbClr val="132040">
              <a:alpha val="8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27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Peripheral (side)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66160" y="3127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Nucleus Position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3127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Central position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566160"/>
            <a:ext cx="3200400" cy="411480"/>
          </a:xfrm>
          <a:prstGeom prst="rect">
            <a:avLst/>
          </a:prstGeom>
          <a:solidFill>
            <a:srgbClr val="0A0E2A">
              <a:alpha val="8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6160" y="3566160"/>
            <a:ext cx="2011680" cy="411480"/>
          </a:xfrm>
          <a:prstGeom prst="rect">
            <a:avLst/>
          </a:prstGeom>
          <a:solidFill>
            <a:srgbClr val="131B4D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77840" y="3566160"/>
            <a:ext cx="3200400" cy="411480"/>
          </a:xfrm>
          <a:prstGeom prst="rect">
            <a:avLst/>
          </a:prstGeom>
          <a:solidFill>
            <a:srgbClr val="0A0E2A">
              <a:alpha val="8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❌ Absent (mostly)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6616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Centrioles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✅ Present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005072"/>
            <a:ext cx="3200400" cy="411480"/>
          </a:xfrm>
          <a:prstGeom prst="rect">
            <a:avLst/>
          </a:prstGeom>
          <a:solidFill>
            <a:srgbClr val="132040">
              <a:alpha val="8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66160" y="4005072"/>
            <a:ext cx="2011680" cy="411480"/>
          </a:xfrm>
          <a:prstGeom prst="rect">
            <a:avLst/>
          </a:prstGeom>
          <a:solidFill>
            <a:srgbClr val="131B4D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4005072"/>
            <a:ext cx="3200400" cy="411480"/>
          </a:xfrm>
          <a:prstGeom prst="rect">
            <a:avLst/>
          </a:prstGeom>
          <a:solidFill>
            <a:srgbClr val="132040">
              <a:alpha val="8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Rare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66160" y="4005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Lysosomes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69280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✅ Abundant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443984"/>
            <a:ext cx="3200400" cy="411480"/>
          </a:xfrm>
          <a:prstGeom prst="rect">
            <a:avLst/>
          </a:prstGeom>
          <a:solidFill>
            <a:srgbClr val="0A0E2A">
              <a:alpha val="8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4443984"/>
            <a:ext cx="2011680" cy="411480"/>
          </a:xfrm>
          <a:prstGeom prst="rect">
            <a:avLst/>
          </a:prstGeom>
          <a:solidFill>
            <a:srgbClr val="131B4D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4443984"/>
            <a:ext cx="3200400" cy="411480"/>
          </a:xfrm>
          <a:prstGeom prst="rect">
            <a:avLst/>
          </a:prstGeom>
          <a:solidFill>
            <a:srgbClr val="0A0E2A">
              <a:alpha val="8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4439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Photosynthesis (chloroplast)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66160" y="44439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Energy source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669280" y="44439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Cellular respiration only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Organelles —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Organelles are tiny organs inside the cell — each with a specific function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25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Nucleus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755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Control center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25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Mitochondria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755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Energy factory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325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04088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Rough 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1755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Protein synthesis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60A5FA">
              <a:alpha val="18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560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18872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Smooth 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2990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Lipid synthesis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251460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2560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11480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Golgi Body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2990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Packaging &amp; shipping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51460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2560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🗑️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04088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Lysosome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2990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Waste digestion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947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118872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Ribosome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4224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Protein building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91840" y="374904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91840" y="37947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💧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411480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Vacuole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0" y="4224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Storage tank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374904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17920" y="37947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704088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Chloroplast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40880" y="4224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Photosynthesis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Nucleus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🔵 Control Center of the Cell | Contains the Genetic Blueprint of Life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NUCLEUS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3200400" cy="2651760"/>
          </a:xfrm>
          <a:prstGeom prst="ellipse">
            <a:avLst/>
          </a:prstGeom>
          <a:solidFill>
            <a:srgbClr val="7C3AED">
              <a:alpha val="3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65960"/>
            <a:ext cx="3017520" cy="2468880"/>
          </a:xfrm>
          <a:prstGeom prst="ellipse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A855F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645920" y="2834640"/>
            <a:ext cx="1371600" cy="914400"/>
          </a:xfrm>
          <a:prstGeom prst="ellipse">
            <a:avLst/>
          </a:prstGeom>
          <a:solidFill>
            <a:srgbClr val="818CF8">
              <a:alpha val="6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Nucleolus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97280" y="2194560"/>
            <a:ext cx="1097280" cy="457200"/>
          </a:xfrm>
          <a:prstGeom prst="line">
            <a:avLst/>
          </a:prstGeom>
          <a:noFill/>
          <a:ln w="19050">
            <a:solidFill>
              <a:srgbClr val="67E8F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554480" y="2468880"/>
            <a:ext cx="1097280" cy="457200"/>
          </a:xfrm>
          <a:prstGeom prst="line">
            <a:avLst/>
          </a:prstGeom>
          <a:noFill/>
          <a:ln w="19050">
            <a:solidFill>
              <a:srgbClr val="67E8F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011680" y="2743200"/>
            <a:ext cx="1097280" cy="457200"/>
          </a:xfrm>
          <a:prstGeom prst="line">
            <a:avLst/>
          </a:prstGeom>
          <a:noFill/>
          <a:ln w="19050">
            <a:solidFill>
              <a:srgbClr val="67E8F9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Nuclear membrane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(Double layer)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0" y="1371600"/>
            <a:ext cx="4389120" cy="804672"/>
          </a:xfrm>
          <a:prstGeom prst="roundRect">
            <a:avLst>
              <a:gd name="adj" fmla="val 17045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Nuclear Membrane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6916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Double-layered envelope with nuclear pores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Controls movement in/out of nucleus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2286000"/>
            <a:ext cx="4389120" cy="804672"/>
          </a:xfrm>
          <a:prstGeom prst="roundRect">
            <a:avLst>
              <a:gd name="adj" fmla="val 17045"/>
            </a:avLst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2331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Chromatin / DNA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26060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Long DNA strands with proteins (histones)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Contains all genetic information (genes)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3200400"/>
            <a:ext cx="4389120" cy="804672"/>
          </a:xfrm>
          <a:prstGeom prst="roundRect">
            <a:avLst>
              <a:gd name="adj" fmla="val 17045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3246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Chromosomes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5204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Condensed chromatin during cell division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Humans have 46 chromosomes (23 pairs)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4114800"/>
            <a:ext cx="4389120" cy="804672"/>
          </a:xfrm>
          <a:prstGeom prst="roundRect">
            <a:avLst>
              <a:gd name="adj" fmla="val 17045"/>
            </a:avLst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4160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Nucleolus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4348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Dense body inside nucleus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Produces ribosomal RNA (rRNA)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4703064"/>
            <a:ext cx="4389120" cy="347472"/>
          </a:xfrm>
          <a:prstGeom prst="roundRect">
            <a:avLst>
              <a:gd name="adj" fmla="val 39474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80560" y="46817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🧬 DNA → Gene → Chromosome → Nucleus → Cell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Endoplasmic Reticulum (ER)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A network of membranes extending from the nucleus — like a factory + highway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114800" cy="3657600"/>
          </a:xfrm>
          <a:prstGeom prst="roundRect">
            <a:avLst>
              <a:gd name="adj" fmla="val 375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716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🏭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ROUGH ER (RER)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▸  Has ribosomes on surface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(makes it look 'rough')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▸  Manufactures and processes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proteins for cell/export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62102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▸  Connected to nuclear envelope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18795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▸  Found in protein-secreting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cells like pancreas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727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7E8F9"/>
                </a:solidFill>
              </a:rPr>
              <a:t>📌 Example: Antibody-producing cells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4114800" cy="3657600"/>
          </a:xfrm>
          <a:prstGeom prst="roundRect">
            <a:avLst>
              <a:gd name="adj" fmla="val 375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3716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🔄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937760" y="2029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SMOOTH ER (SER)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48716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▸  NO ribosomes on surface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(smooth appearance)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30540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▸  Synthesizes lipids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phospholipids (cell membrane)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362102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▸  Detoxifies drugs &amp; poisons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in liver cells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418795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▸  Stores calcium 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(important for muscles)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4727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7E8F9"/>
                </a:solidFill>
              </a:rPr>
              <a:t>📌 Example: Liver cells, muscle cells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Golgi Apparatus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📦 The Post Office / Courier Service of the Cell — Packages &amp; Ships Materials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3657600"/>
          </a:xfrm>
          <a:prstGeom prst="roundRect">
            <a:avLst>
              <a:gd name="adj" fmla="val 375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GOLGI STRUCTURE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371600"/>
            <a:ext cx="4297680" cy="841248"/>
          </a:xfrm>
          <a:prstGeom prst="roundRect">
            <a:avLst>
              <a:gd name="adj" fmla="val 16304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139903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📬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25780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6916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Receives proteins from ER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modifies/tags them for destinations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331720"/>
            <a:ext cx="4297680" cy="841248"/>
          </a:xfrm>
          <a:prstGeom prst="roundRect">
            <a:avLst>
              <a:gd name="adj" fmla="val 16304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235915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257800" y="2377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Packaging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6517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Wraps materials in membrane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vesicles (transport packages)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291840"/>
            <a:ext cx="4297680" cy="841248"/>
          </a:xfrm>
          <a:prstGeom prst="roundRect">
            <a:avLst>
              <a:gd name="adj" fmla="val 16304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0" y="331927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257800" y="3337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Secretion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36118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Ships vesicles to cell membrane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for export outside the cell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4251960"/>
            <a:ext cx="4297680" cy="841248"/>
          </a:xfrm>
          <a:prstGeom prst="roundRect">
            <a:avLst>
              <a:gd name="adj" fmla="val 16304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0" y="427939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257800" y="4297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Lysosome Formation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45720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Creates lysosomes by packaging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digestive enzymes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5138928"/>
            <a:ext cx="8412480" cy="347472"/>
          </a:xfrm>
          <a:prstGeom prst="roundRect">
            <a:avLst>
              <a:gd name="adj" fmla="val 3947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5760" y="5138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🔬 Discovered by Camillo Golgi in 1897 | Found in secretory cells — goblet cells, pancreatic cells</a:t>
            </a:r>
            <a:endParaRPr lang="en-US" sz="11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0C6D106-F721-01EA-7817-7BA9F7456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713" y="1956435"/>
            <a:ext cx="2371725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Lysosomes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💥 The Suicidal Bags of the Cell — Contain Powerful Digestive Enzymes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931920" cy="3520440"/>
          </a:xfrm>
          <a:prstGeom prst="roundRect">
            <a:avLst>
              <a:gd name="adj" fmla="val 3896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🗑️ HOW LYSOSOMES 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1️⃣ Golgi forms lysosome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Packages hydrolytic enzymes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2432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2️⃣ Lysosome attacks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Fuses with worn-out organelle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38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3️⃣ Enzymes digest 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Breaks down proteins, lipids, DNA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7880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153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4️⃣ Monomers recycled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Nutrients reused by cell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910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⚠️ Autolysis: Self-destruction of damaged cells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1371600"/>
            <a:ext cx="4389120" cy="658368"/>
          </a:xfrm>
          <a:prstGeom prst="roundRect">
            <a:avLst>
              <a:gd name="adj" fmla="val 20833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47488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47488" y="1664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Made by Golgi apparatus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Contain ~50 enzymes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2148840"/>
            <a:ext cx="4389120" cy="658368"/>
          </a:xfrm>
          <a:prstGeom prst="roundRect">
            <a:avLst>
              <a:gd name="adj" fmla="val 20833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80560" y="2167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47488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Enzyme Type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Hydrolytic enzymes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Work in acidic pH (5.0)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2926080"/>
            <a:ext cx="4389120" cy="658368"/>
          </a:xfrm>
          <a:prstGeom prst="roundRect">
            <a:avLst>
              <a:gd name="adj" fmla="val 20833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2944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047488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Autophagy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47488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Digests old/damaged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cell organelles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3703320"/>
            <a:ext cx="4389120" cy="658368"/>
          </a:xfrm>
          <a:prstGeom prst="roundRect">
            <a:avLst>
              <a:gd name="adj" fmla="val 20833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80560" y="37216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🦠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47488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Phagocytosis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47488" y="3995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Digests bacteria eaten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by white blood cells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80560" y="4480560"/>
            <a:ext cx="4389120" cy="658368"/>
          </a:xfrm>
          <a:prstGeom prst="roundRect">
            <a:avLst>
              <a:gd name="adj" fmla="val 20833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480560" y="44988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☠️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047488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Autolysis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47488" y="4773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Cell self-destruction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(programmed cell death)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Mitochondria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THE POWERHOUSE OF THE CELL — Generates ATP Energy for all life processes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3657600"/>
          </a:xfrm>
          <a:prstGeom prst="roundRect">
            <a:avLst>
              <a:gd name="adj" fmla="val 375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MITOCHONDRIA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74720" cy="2286000"/>
          </a:xfrm>
          <a:prstGeom prst="ellipse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03120"/>
            <a:ext cx="3017520" cy="1828800"/>
          </a:xfrm>
          <a:prstGeom prst="ellipse">
            <a:avLst/>
          </a:prstGeom>
          <a:solidFill>
            <a:srgbClr val="8B4513">
              <a:alpha val="50000"/>
            </a:srgbClr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188720" y="2286000"/>
            <a:ext cx="0" cy="12801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286000"/>
            <a:ext cx="0" cy="12801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286000"/>
            <a:ext cx="0" cy="12801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2286000"/>
            <a:ext cx="0" cy="12801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2651760"/>
            <a:ext cx="1188720" cy="822960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880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Matrix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Outer membrane 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Inner membrane 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Cristae (folds) →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371600"/>
            <a:ext cx="4297680" cy="841248"/>
          </a:xfrm>
          <a:prstGeom prst="roundRect">
            <a:avLst>
              <a:gd name="adj" fmla="val 16304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139903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5780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Glucose Input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6916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C₆H₁₂O₆ + O₂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(from food you eat)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194560"/>
            <a:ext cx="4297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331720"/>
            <a:ext cx="4297680" cy="841248"/>
          </a:xfrm>
          <a:prstGeom prst="roundRect">
            <a:avLst>
              <a:gd name="adj" fmla="val 16304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235915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257800" y="2377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Cellular Respiration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6517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Reactions in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&amp; cristae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154680"/>
            <a:ext cx="4297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3291840"/>
            <a:ext cx="4297680" cy="841248"/>
          </a:xfrm>
          <a:prstGeom prst="roundRect">
            <a:avLst>
              <a:gd name="adj" fmla="val 16304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331927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257800" y="3337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ATP Output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6118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36–38 ATP molecules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= Energy for cell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114800"/>
            <a:ext cx="4297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0" y="4251960"/>
            <a:ext cx="4297680" cy="841248"/>
          </a:xfrm>
          <a:prstGeom prst="roundRect">
            <a:avLst>
              <a:gd name="adj" fmla="val 16304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0" y="427939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💨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257800" y="4297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By-products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45720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CO₂ + H₂O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(exhaled/released)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5138928"/>
            <a:ext cx="4389120" cy="347472"/>
          </a:xfrm>
          <a:prstGeom prst="roundRect">
            <a:avLst>
              <a:gd name="adj" fmla="val 39474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480560" y="51389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🧬 Mitochondria have their OWN DNA — evidence of endosymbiotic origin!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🌿 Present ONLY in Plant Cells | Three types based on color &amp; function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3560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🌿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CHLOROPLAST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Contains green pigment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chlorophyll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237744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Function: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101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Photosynthesis: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6CO₂ + 6H₂O → C₆H₁₂O₆ + 6O₂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Found in: leaves, green parts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☀️→🍬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291840" y="1389888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143560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🍊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38328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CHROMOPLAST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Contains colored pigments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(carotenoids, xanthophylls)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999232"/>
            <a:ext cx="237744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Function: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3101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Gives color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flowers and fruits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Found in: petals, ripe fruits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🌸🍎🥕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217920" y="1389888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94A3B8">
              <a:alpha val="18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143560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🤍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30936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LEUCOPLAST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Colorless plastid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(no pigment)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999232"/>
            <a:ext cx="237744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Function: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33101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Stores starch, oils,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and proteins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Found in: roots, seeds, tubers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🥔🌾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365760" y="5047488"/>
            <a:ext cx="8412480" cy="347472"/>
          </a:xfrm>
          <a:prstGeom prst="roundRect">
            <a:avLst>
              <a:gd name="adj" fmla="val 39474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50474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💡 Leucoplast → Chromoplast → Chloroplast (plastids can convert into each other!)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Vacuole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💧 Storage Compartment of the Cell | Large in plants, small in animals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3657600"/>
          </a:xfrm>
          <a:prstGeom prst="roundRect">
            <a:avLst>
              <a:gd name="adj" fmla="val 3750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PLANT vs ANIMAL CELL VACUOLE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05740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06B6D4">
              <a:alpha val="50000"/>
            </a:srgbClr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06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💧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1051560" y="2148840"/>
            <a:ext cx="457200" cy="320040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855F7"/>
                </a:solidFill>
              </a:rPr>
              <a:t>Nucleus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3101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Large Central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Vacuole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(90% cell volume)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🌱 PLANT CELL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874520"/>
            <a:ext cx="1737360" cy="228600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2103120"/>
            <a:ext cx="320040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2103120"/>
            <a:ext cx="320040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2697480"/>
            <a:ext cx="320040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697480"/>
            <a:ext cx="320040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7480" y="3291840"/>
            <a:ext cx="320040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3246120"/>
            <a:ext cx="640080" cy="457200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2735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855F7"/>
                </a:solidFill>
              </a:rPr>
              <a:t>Nucleus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56032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Small vacuoles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(scattered)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🐾 ANIMAL CELL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371600"/>
            <a:ext cx="4297680" cy="658368"/>
          </a:xfrm>
          <a:prstGeom prst="roundRect">
            <a:avLst>
              <a:gd name="adj" fmla="val 20833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38928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Turgidity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1664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Full vacuole = turgid (firm) plant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Empty vacuole = wilted plant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148840"/>
            <a:ext cx="4297680" cy="658368"/>
          </a:xfrm>
          <a:prstGeom prst="roundRect">
            <a:avLst>
              <a:gd name="adj" fmla="val 2083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0" y="2167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🧂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38928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Osmoregulation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38928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Controls water balance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 the cell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2926080"/>
            <a:ext cx="4297680" cy="658368"/>
          </a:xfrm>
          <a:prstGeom prst="roundRect">
            <a:avLst>
              <a:gd name="adj" fmla="val 20833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0" y="2944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138928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Waste Storage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38928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Stores metabolic waste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products safely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3703320"/>
            <a:ext cx="4297680" cy="658368"/>
          </a:xfrm>
          <a:prstGeom prst="roundRect">
            <a:avLst>
              <a:gd name="adj" fmla="val 2083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0" y="37216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138928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Food Vacuole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38928" y="3995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 Amoeba — engulfs food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and digests it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4480560"/>
            <a:ext cx="4297680" cy="658368"/>
          </a:xfrm>
          <a:prstGeom prst="roundRect">
            <a:avLst>
              <a:gd name="adj" fmla="val 20833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0" y="44988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138928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Contractile Vacuole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38928" y="4773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 Paramecium — pumps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excess water out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Division — Introduction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One cell splits into two — the fundamental process behind growth, repair &amp; reproduction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000000"/>
                </a:solidFill>
              </a:rPr>
              <a:t>📈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</a:rPr>
              <a:t>GROWTH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From one fertilized egg to trillions of cells in your body!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Cell division increases cell number.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000000"/>
                </a:solidFill>
              </a:rPr>
              <a:t>🩹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3383280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</a:rPr>
              <a:t>REPAIR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Damaged or dead cells are replaced by new cells through division.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Ex: Skin heals after a cut.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000000"/>
                </a:solidFill>
              </a:rPr>
              <a:t>🌱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6309360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</a:rPr>
              <a:t>REPRODUCTION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Single-celled organisms reproduce by simply dividing into two new organisms.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Ex: Bacteria, Amoeba.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41648"/>
            <a:ext cx="8412480" cy="960120"/>
          </a:xfrm>
          <a:prstGeom prst="roundRect">
            <a:avLst>
              <a:gd name="adj" fmla="val 14286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087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7E8F9"/>
                </a:solidFill>
              </a:rPr>
              <a:t>TWO TYPES OF CELL DIVISION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462272"/>
            <a:ext cx="3474720" cy="384048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4462272"/>
            <a:ext cx="3474720" cy="384048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62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⚡ MITOSIS — 2 identical daughter cells (body cells)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462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🌸 MEIOSIS — 4 gametes with half chromosome number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" y="48234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</a:rPr>
              <a:t>🔬 Observable in: Onion root tip cells — dividing cells visible under microscope!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Mitosis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Produces 2 Genetically Identical Daughter Cells | Used for Growth &amp; Repair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600200" cy="3200400"/>
          </a:xfrm>
          <a:prstGeom prst="roundRect">
            <a:avLst>
              <a:gd name="adj" fmla="val 8571"/>
            </a:avLst>
          </a:prstGeom>
          <a:solidFill>
            <a:srgbClr val="94A3B8">
              <a:alpha val="18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INTERPHASE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Cell prepares for division.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DNA replicates (copied).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Cell grows in size.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26974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03120" y="1417320"/>
            <a:ext cx="1600200" cy="3200400"/>
          </a:xfrm>
          <a:prstGeom prst="roundRect">
            <a:avLst>
              <a:gd name="adj" fmla="val 8571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0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🧵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48840" y="2029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PROPHASE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48840" y="242316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Chromosomes condense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&amp; become visible.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Nuclear envelope breaks.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26974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480" y="1417320"/>
            <a:ext cx="1600200" cy="3200400"/>
          </a:xfrm>
          <a:prstGeom prst="roundRect">
            <a:avLst>
              <a:gd name="adj" fmla="val 8571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⬛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86200" y="2029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METAPHASE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86200" y="242316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Chromosomes align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at cell's equator.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Spindle fibers attach.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26974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77840" y="1417320"/>
            <a:ext cx="1600200" cy="3200400"/>
          </a:xfrm>
          <a:prstGeom prst="roundRect">
            <a:avLst>
              <a:gd name="adj" fmla="val 8571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↕️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23560" y="2029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ANAPHASE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23560" y="242316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Chromatids pulled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 opposite poles.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Cell elongates.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26974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0" y="1417320"/>
            <a:ext cx="1600200" cy="3200400"/>
          </a:xfrm>
          <a:prstGeom prst="roundRect">
            <a:avLst>
              <a:gd name="adj" fmla="val 8571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⭕⭕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360920" y="2029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TELOPHASE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60920" y="242316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Two nuclei form.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Chromosomes decondense.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Cell pinches in.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631436"/>
            <a:ext cx="8412480" cy="594360"/>
          </a:xfrm>
          <a:prstGeom prst="roundRect">
            <a:avLst>
              <a:gd name="adj" fmla="val 2307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358BDAC-B290-C0F3-7325-DA2207A388EB}"/>
              </a:ext>
            </a:extLst>
          </p:cNvPr>
          <p:cNvGrpSpPr/>
          <p:nvPr/>
        </p:nvGrpSpPr>
        <p:grpSpPr>
          <a:xfrm>
            <a:off x="371856" y="4464558"/>
            <a:ext cx="8412480" cy="594360"/>
            <a:chOff x="365760" y="4736592"/>
            <a:chExt cx="8412480" cy="594360"/>
          </a:xfrm>
        </p:grpSpPr>
        <p:sp>
          <p:nvSpPr>
            <p:cNvPr id="33" name="Text 31"/>
            <p:cNvSpPr/>
            <p:nvPr/>
          </p:nvSpPr>
          <p:spPr>
            <a:xfrm>
              <a:off x="365760" y="4736592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RESULT: 1 Parent Cell  →  2 Daughter Cells</a:t>
              </a:r>
              <a:endParaRPr lang="en-US" sz="13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65760" y="5010912"/>
              <a:ext cx="4206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7E8F9"/>
                  </a:solidFill>
                </a:rPr>
                <a:t>✅ Genetically IDENTICAL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7E8F9"/>
                  </a:solidFill>
                </a:rPr>
                <a:t>✅ Same chromosome number (diploid 2n)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480560" y="4736592"/>
              <a:ext cx="4297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</a:rPr>
                <a:t>📍 Location: Somatic (body) cells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</a:rPr>
                <a:t>📍 Purpose: Growth, repair, asexual reproduction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Meiosis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🌸 Produces 4 Genetically Different Gametes | Used for Sexual Reproduction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</a:rPr>
              <a:t>MEIOSIS I (Reductive division)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</a:rPr>
              <a:t>MEIOSIS II (Equational division)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68680" cy="2286000"/>
          </a:xfrm>
          <a:prstGeom prst="roundRect">
            <a:avLst>
              <a:gd name="adj" fmla="val 15789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Prophase 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192" y="2249424"/>
            <a:ext cx="813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Homologous chromosomes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pair up (synapsis)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Crossing over occurs!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25880" y="1847088"/>
            <a:ext cx="868680" cy="2286000"/>
          </a:xfrm>
          <a:prstGeom prst="roundRect">
            <a:avLst>
              <a:gd name="adj" fmla="val 15789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53312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Metaphase 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53312" y="2249424"/>
            <a:ext cx="813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Pairs align 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cell equator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0" y="1847088"/>
            <a:ext cx="868680" cy="2286000"/>
          </a:xfrm>
          <a:prstGeom prst="roundRect">
            <a:avLst>
              <a:gd name="adj" fmla="val 15789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13432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Anaphase 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13432" y="2249424"/>
            <a:ext cx="813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Homologs pulled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to opposite poles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847088"/>
            <a:ext cx="868680" cy="2286000"/>
          </a:xfrm>
          <a:prstGeom prst="roundRect">
            <a:avLst>
              <a:gd name="adj" fmla="val 15789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73552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Telophase 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73552" y="2249424"/>
            <a:ext cx="813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2 cells form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(still diploid-like)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847088"/>
            <a:ext cx="868680" cy="2286000"/>
          </a:xfrm>
          <a:prstGeom prst="roundRect">
            <a:avLst>
              <a:gd name="adj" fmla="val 15789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82312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Prophase II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82312" y="2249424"/>
            <a:ext cx="813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Each cell prepares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for 2nd division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15000" y="1847088"/>
            <a:ext cx="868680" cy="2286000"/>
          </a:xfrm>
          <a:prstGeom prst="roundRect">
            <a:avLst>
              <a:gd name="adj" fmla="val 15789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42432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Metaphase II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42432" y="2249424"/>
            <a:ext cx="813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Chromosomes align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 each cell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75120" y="1847088"/>
            <a:ext cx="868680" cy="2286000"/>
          </a:xfrm>
          <a:prstGeom prst="roundRect">
            <a:avLst>
              <a:gd name="adj" fmla="val 15789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02552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Anaphase II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02552" y="2249424"/>
            <a:ext cx="813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Chromatids pulled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apart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847088"/>
            <a:ext cx="868680" cy="2286000"/>
          </a:xfrm>
          <a:prstGeom prst="roundRect">
            <a:avLst>
              <a:gd name="adj" fmla="val 15789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62672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Telophase II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62672" y="2249424"/>
            <a:ext cx="813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4 haploid cells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(gametes) form!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0" y="1828800"/>
            <a:ext cx="45720" cy="2377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279392"/>
            <a:ext cx="4023360" cy="658368"/>
          </a:xfrm>
          <a:prstGeom prst="roundRect">
            <a:avLst>
              <a:gd name="adj" fmla="val 20833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15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🔀 CROSSING OVER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53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Exchange of genetic material between homologous chromosomes → creates genetic variation!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4279392"/>
            <a:ext cx="4114800" cy="658368"/>
          </a:xfrm>
          <a:prstGeom prst="roundRect">
            <a:avLst>
              <a:gd name="adj" fmla="val 20833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0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RESULT: 1 Diploid Cell (2n)  →  4 Haploid Gametes (n)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4572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Sperm + Egg → each with HALF the chromosome number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</a:rPr>
              <a:t>Humans: 2n=46 → n=23 chromosomes in each gamete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EE663D-8C0C-FBC4-FB69-419A6945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66675"/>
            <a:ext cx="90297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80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Mitosis vs Meiosis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926080" cy="32004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777240"/>
            <a:ext cx="210312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777240"/>
            <a:ext cx="2103120" cy="320040"/>
          </a:xfrm>
          <a:prstGeom prst="rect">
            <a:avLst/>
          </a:prstGeom>
          <a:solidFill>
            <a:srgbClr val="06B6D4">
              <a:alpha val="8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77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MITOSIS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4068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🌸 MEIOSIS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115568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15568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1115568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115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Number of cells produced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 daughter cells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 daughter cells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554480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554480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Chromosome number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Remains 2n (diploid)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Reduced to n (haploid)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1993392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1993392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1993392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19933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Genetic outcome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Genetically identical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Genetically different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432304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432304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2432304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4323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Divisions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24323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 division only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24323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 divisions (I &amp; II)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871216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2871216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2871216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28712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Crossing over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3756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Does NOT occur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068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Occurs in Prophase 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310128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3310128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94960" y="3310128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310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Purpose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37560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Growth &amp; repair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40680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Sexual reproduction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749040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0" y="3749040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94960" y="3749040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Where it occurs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375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Somatic (body) cells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406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Gonads (sex organs)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4187952"/>
            <a:ext cx="292608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91840" y="4187952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94960" y="4187952"/>
            <a:ext cx="2103120" cy="320040"/>
          </a:xfrm>
          <a:prstGeom prst="rect">
            <a:avLst/>
          </a:prstGeom>
          <a:solidFill>
            <a:srgbClr val="131B4D">
              <a:alpha val="40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187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 humans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337560" y="4187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All body cells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40680" y="4187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Testes &amp; Ovaries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35714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💡 Meiosis maintains the chromosome number across generations — without it, chromosome numbers would double each generation!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Cancer: Uncontrolled Cell Division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When cell division goes WRONG — cells divide uncontrollably forming a tumor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NORMAL CELLS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019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562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Divide in controlled, regulated manner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682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Stop dividing when enough cells exist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80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Have normal shape and function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924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Stay in their original tissue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502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044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Die naturally (apoptosis) when needed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371600"/>
            <a:ext cx="4297680" cy="3474720"/>
          </a:xfrm>
          <a:prstGeom prst="roundRect">
            <a:avLst>
              <a:gd name="adj" fmla="val 3947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14173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CANCER CELLS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901952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856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Divide without control or limits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14016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682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Don't stop even when overpopulated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880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Abnormal shape and function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438144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3924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Can spread to other tissues (metastasis)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950208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9044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Ignore apoptosis signals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956048"/>
            <a:ext cx="8412480" cy="438912"/>
          </a:xfrm>
          <a:prstGeom prst="roundRect">
            <a:avLst>
              <a:gd name="adj" fmla="val 3125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49560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🔬 Causes: Mutations in DNA | Radiation | Carcinogens | Viruses  |  🏥 Treatment: Surgery, Chemotherapy, Radiation therapy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Cells &amp; Future Science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02920"/>
          </a:xfrm>
          <a:prstGeom prst="roundRect">
            <a:avLst>
              <a:gd name="adj" fmla="val 27273"/>
            </a:avLst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🔮 Scientists have created the first synthetic cell — the future of biology is here!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E8F9"/>
                </a:solidFill>
              </a:rPr>
              <a:t>🧬 J. CRAIG VENTER EXPERIMENT (2010)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1. Created a synthetic genome in laboratory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2. Inserted it into a living bacterial cell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52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3. Cell began to function normally!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91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4. Called 'JCVI-syn1.0' — first synthetic life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417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🚀 FUTURE APPLICATIONS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74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💊 Medicine: Designer cells to cure diseases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313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⚡ Biofuel: Synthetic cells producing clean energy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🧹 Bioremediation: Cells that eat plastic/pollution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191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🥗 Agriculture: Custom crops with perfect nutrients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8412480" cy="1188720"/>
          </a:xfrm>
          <a:prstGeom prst="roundRect">
            <a:avLst>
              <a:gd name="adj" fmla="val 11538"/>
            </a:avLst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8130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ETHICAL CONSIDERATIONS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178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Is creating life ethical?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178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Who controls synthetic organisms?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544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Biosafety risks if released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544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Need international regulation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50474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7E8F9"/>
                </a:solidFill>
              </a:rPr>
              <a:t>🌟 Synthetic biology could revolutionize medicine, energy, and the environment in the 21st century!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 Scientists in Cell Biology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332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🔬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Robert Hooke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1665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768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Discovered &amp; named 'Cells'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Observed cork under microscope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0332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🌿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Schleiden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039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1838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2768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All plants made of cells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Co-founder of Cell Theory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0332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🐾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Schwann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039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1839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2768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All animals made of cells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Extended Cell Theory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0906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🧬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Rudolf Virchow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1855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3342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Cells arise from existing cells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'Omnis cellula e cellula'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30175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30906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📦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Camillo Golgi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1897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43342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Discovered Golgi apparatus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Nobel Prize 1906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0175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30906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🇮🇳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630936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Arun Kumar Sharma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20th 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43342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Indian cytologist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Contributed to plant cytogenetics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5029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7E8F9"/>
                </a:solidFill>
              </a:rPr>
              <a:t>🏆 Science is built on centuries of curiosity, observation, and collaboration!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21792"/>
            <a:ext cx="54864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Summary — Mind 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29000" y="1965960"/>
            <a:ext cx="2286000" cy="1554480"/>
          </a:xfrm>
          <a:prstGeom prst="ellipse">
            <a:avLst/>
          </a:prstGeom>
          <a:solidFill>
            <a:srgbClr val="7C3AED"/>
          </a:solidFill>
          <a:ln w="38100">
            <a:solidFill>
              <a:srgbClr val="A855F7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🔬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CELL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2834640" cy="804672"/>
          </a:xfrm>
          <a:prstGeom prst="roundRect">
            <a:avLst>
              <a:gd name="adj" fmla="val 17045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73152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🔬 Discovery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Hooke 1665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088136"/>
            <a:ext cx="2880360" cy="1655064"/>
          </a:xfrm>
          <a:prstGeom prst="line">
            <a:avLst/>
          </a:prstGeom>
          <a:noFill/>
          <a:ln w="9525">
            <a:solidFill>
              <a:srgbClr val="2563EB">
                <a:alpha val="50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0" y="457200"/>
            <a:ext cx="2834640" cy="804672"/>
          </a:xfrm>
          <a:prstGeom prst="roundRect">
            <a:avLst>
              <a:gd name="adj" fmla="val 17045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50292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🧬 Cell Theory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Schleiden, Schwann, Virchow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59536"/>
            <a:ext cx="45720" cy="1883664"/>
          </a:xfrm>
          <a:prstGeom prst="line">
            <a:avLst/>
          </a:prstGeom>
          <a:noFill/>
          <a:ln w="9525">
            <a:solidFill>
              <a:srgbClr val="10B981">
                <a:alpha val="5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583680" y="685800"/>
            <a:ext cx="2834640" cy="804672"/>
          </a:xfrm>
          <a:prstGeom prst="roundRect">
            <a:avLst>
              <a:gd name="adj" fmla="val 1704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73152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🦠 Types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Prokaryotic vs Eukaryotic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88136"/>
            <a:ext cx="3429000" cy="1655064"/>
          </a:xfrm>
          <a:prstGeom prst="line">
            <a:avLst/>
          </a:prstGeom>
          <a:noFill/>
          <a:ln w="9525">
            <a:solidFill>
              <a:srgbClr val="F59E0B">
                <a:alpha val="50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132320" y="2423160"/>
            <a:ext cx="2834640" cy="804672"/>
          </a:xfrm>
          <a:prstGeom prst="roundRect">
            <a:avLst>
              <a:gd name="adj" fmla="val 17045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05472" y="246888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🧱 Organelles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Nucleus, Mito, ER, Golgi...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3977640" cy="82296"/>
          </a:xfrm>
          <a:prstGeom prst="line">
            <a:avLst/>
          </a:prstGeom>
          <a:noFill/>
          <a:ln w="9525">
            <a:solidFill>
              <a:srgbClr val="06B6D4">
                <a:alpha val="50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583680" y="4114800"/>
            <a:ext cx="2834640" cy="804672"/>
          </a:xfrm>
          <a:prstGeom prst="roundRect">
            <a:avLst>
              <a:gd name="adj" fmla="val 17045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56832" y="416052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⚡ Cell Division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Mitosis &amp; Meiosis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743200"/>
            <a:ext cx="3429000" cy="1773936"/>
          </a:xfrm>
          <a:prstGeom prst="line">
            <a:avLst/>
          </a:prstGeom>
          <a:noFill/>
          <a:ln w="9525">
            <a:solidFill>
              <a:srgbClr val="EC4899">
                <a:alpha val="50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00400" y="4480560"/>
            <a:ext cx="2834640" cy="804672"/>
          </a:xfrm>
          <a:prstGeom prst="roundRect">
            <a:avLst>
              <a:gd name="adj" fmla="val 17045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73552" y="452628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🌿 Plant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Cell wall, Plastids, Vacuole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743200"/>
            <a:ext cx="45720" cy="2139696"/>
          </a:xfrm>
          <a:prstGeom prst="line">
            <a:avLst/>
          </a:prstGeom>
          <a:noFill/>
          <a:ln w="9525">
            <a:solidFill>
              <a:srgbClr val="10B981">
                <a:alpha val="50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440" y="4114800"/>
            <a:ext cx="2834640" cy="804672"/>
          </a:xfrm>
          <a:prstGeom prst="roundRect">
            <a:avLst>
              <a:gd name="adj" fmla="val 17045"/>
            </a:avLst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4592" y="416052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💧 Membrane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Osmosis, Diffusion, Transport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08760" y="2743200"/>
            <a:ext cx="3063240" cy="1773936"/>
          </a:xfrm>
          <a:prstGeom prst="line">
            <a:avLst/>
          </a:prstGeom>
          <a:noFill/>
          <a:ln w="9525">
            <a:solidFill>
              <a:srgbClr val="818CF8">
                <a:alpha val="50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-182880" y="2423160"/>
            <a:ext cx="2834640" cy="804672"/>
          </a:xfrm>
          <a:prstGeom prst="roundRect">
            <a:avLst>
              <a:gd name="adj" fmla="val 1704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-109728" y="246888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♨️ Origin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Hot springs, Primordial soup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34440" y="2743200"/>
            <a:ext cx="3337560" cy="82296"/>
          </a:xfrm>
          <a:prstGeom prst="line">
            <a:avLst/>
          </a:prstGeom>
          <a:noFill/>
          <a:ln w="9525">
            <a:solidFill>
              <a:srgbClr val="F59E0B">
                <a:alpha val="50000"/>
              </a:srgbClr>
            </a:solidFill>
            <a:prstDash val="dash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91440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55F7"/>
                </a:solidFill>
              </a:rPr>
              <a:t>G·C·A·T·G·C·A·T·G·C·A·T·G·C·A·T·G·C·A·T·G·C·A·T·G·C·A·T·G·C·A·T·G·C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457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0" dirty="0">
                <a:solidFill>
                  <a:srgbClr val="000000"/>
                </a:solidFill>
              </a:rPr>
              <a:t>🧬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7C3AED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Thanks for Watching!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7E8F9"/>
                </a:solidFill>
              </a:rPr>
              <a:t>Cell: The Building Block of Life  |  Class 9 Science Chapter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0" y="3154680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👍 LIKE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9040" y="3154680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📤 SHARE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3154680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🔔 SUBSCRIBE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15789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05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7E8F9"/>
                </a:solidFill>
              </a:rPr>
              <a:t>🔑 KEY TAKEAWAYS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Cell = Unit of Life  |  Prokaryotic vs Eukaryotic  |  Organelles = Cell factories  |  Mitosis = Growth  |  Meiosis = Reproduction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2792</Words>
  <Application>Microsoft Office PowerPoint</Application>
  <PresentationFormat>On-screen Show (16:9)</PresentationFormat>
  <Paragraphs>719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Arial Black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Cell: The Building Block of Life</dc:title>
  <dc:subject>PptxGenJS Presentation</dc:subject>
  <dc:creator>PptxGenJS</dc:creator>
  <cp:lastModifiedBy>Tarinee Tarinee</cp:lastModifiedBy>
  <cp:revision>2</cp:revision>
  <dcterms:created xsi:type="dcterms:W3CDTF">2026-05-08T08:09:36Z</dcterms:created>
  <dcterms:modified xsi:type="dcterms:W3CDTF">2026-05-09T05:15:15Z</dcterms:modified>
</cp:coreProperties>
</file>